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99e34eef5748ea" /><Relationship Type="http://schemas.openxmlformats.org/officeDocument/2006/relationships/extended-properties" Target="/docProps/app.xml" Id="Rdb6ba211826943c1" /><Relationship Type="http://schemas.openxmlformats.org/officeDocument/2006/relationships/officeDocument" Target="/ppt/presentation.xml" Id="R5f6cbdcfe3c84a20" /></Relationships>
</file>

<file path=ppt/presentation.xml><?xml version="1.0" encoding="utf-8"?>
<p:presentation xmlns:p="http://schemas.openxmlformats.org/presentationml/2006/main">
  <p:sldMasterIdLst>
    <p:sldMasterId xmlns:r="http://schemas.openxmlformats.org/officeDocument/2006/relationships" id="2147483648" r:id="R94078a49858e487e"/>
  </p:sldMasterIdLst>
  <p:notesMasterIdLst>
    <p:notesMasterId xmlns:r="http://schemas.openxmlformats.org/officeDocument/2006/relationships" r:id="R0ac8078c746241ca"/>
  </p:notesMasterIdLst>
  <p:sldIdLst>
    <p:sldId xmlns:r="http://schemas.openxmlformats.org/officeDocument/2006/relationships" id="256" r:id="Rda4e0363d1c4411a"/>
    <p:sldId xmlns:r="http://schemas.openxmlformats.org/officeDocument/2006/relationships" id="257" r:id="Rfe4a5a4aca714781"/>
    <p:sldId xmlns:r="http://schemas.openxmlformats.org/officeDocument/2006/relationships" id="258" r:id="R8efe9509354449db"/>
    <p:sldId xmlns:r="http://schemas.openxmlformats.org/officeDocument/2006/relationships" id="259" r:id="R039d24549ecf4798"/>
    <p:sldId xmlns:r="http://schemas.openxmlformats.org/officeDocument/2006/relationships" id="260" r:id="Red8413a78d414976"/>
    <p:sldId xmlns:r="http://schemas.openxmlformats.org/officeDocument/2006/relationships" id="261" r:id="R70f15bffe1b74ad6"/>
    <p:sldId xmlns:r="http://schemas.openxmlformats.org/officeDocument/2006/relationships" id="262" r:id="Rb96503084242419b"/>
    <p:sldId xmlns:r="http://schemas.openxmlformats.org/officeDocument/2006/relationships" id="263" r:id="R8877263978a7497a"/>
    <p:sldId xmlns:r="http://schemas.openxmlformats.org/officeDocument/2006/relationships" id="264" r:id="Rd1c6426f9edb4a2c"/>
    <p:sldId xmlns:r="http://schemas.openxmlformats.org/officeDocument/2006/relationships" id="265" r:id="R9ee5100cb41c4bf7"/>
    <p:sldId xmlns:r="http://schemas.openxmlformats.org/officeDocument/2006/relationships" id="266" r:id="R78e4cab86c09467a"/>
    <p:sldId xmlns:r="http://schemas.openxmlformats.org/officeDocument/2006/relationships" id="267" r:id="R6b0bd83062d0482a"/>
    <p:sldId xmlns:r="http://schemas.openxmlformats.org/officeDocument/2006/relationships" id="268" r:id="Rafd0b6172f584082"/>
    <p:sldId xmlns:r="http://schemas.openxmlformats.org/officeDocument/2006/relationships" id="269" r:id="Rc53a4f1e2b344872"/>
    <p:sldId xmlns:r="http://schemas.openxmlformats.org/officeDocument/2006/relationships" id="270" r:id="R3264b57e22774f0e"/>
    <p:sldId xmlns:r="http://schemas.openxmlformats.org/officeDocument/2006/relationships" id="271" r:id="Rec2637bcdb9b4886"/>
    <p:sldId xmlns:r="http://schemas.openxmlformats.org/officeDocument/2006/relationships" id="272" r:id="R7dac72d6bc2940da"/>
    <p:sldId xmlns:r="http://schemas.openxmlformats.org/officeDocument/2006/relationships" id="273" r:id="Rbb2e40fca3104e61"/>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70097dda0da4383" /><Relationship Type="http://schemas.openxmlformats.org/officeDocument/2006/relationships/slideMaster" Target="/ppt/slideMasters/slideMaster1.xml" Id="R94078a49858e487e" /><Relationship Type="http://schemas.openxmlformats.org/officeDocument/2006/relationships/notesMaster" Target="/ppt/notesMasters/notesMaster1.xml" Id="R0ac8078c746241ca" /><Relationship Type="http://schemas.openxmlformats.org/officeDocument/2006/relationships/presProps" Target="/ppt/presProps.xml" Id="R3e11256787e14225" /><Relationship Type="http://schemas.openxmlformats.org/officeDocument/2006/relationships/viewProps" Target="/ppt/viewProps.xml" Id="R19d4d9e3da204400" /><Relationship Type="http://schemas.openxmlformats.org/officeDocument/2006/relationships/tableStyles" Target="/ppt/tableStyles.xml" Id="R338a19a46e4543ca" /><Relationship Type="http://schemas.openxmlformats.org/officeDocument/2006/relationships/slide" Target="/ppt/slides/slide1.xml" Id="Rda4e0363d1c4411a" /><Relationship Type="http://schemas.openxmlformats.org/officeDocument/2006/relationships/slide" Target="/ppt/slides/slide2.xml" Id="Rfe4a5a4aca714781" /><Relationship Type="http://schemas.openxmlformats.org/officeDocument/2006/relationships/slide" Target="/ppt/slides/slide3.xml" Id="R8efe9509354449db" /><Relationship Type="http://schemas.openxmlformats.org/officeDocument/2006/relationships/slide" Target="/ppt/slides/slide4.xml" Id="R039d24549ecf4798" /><Relationship Type="http://schemas.openxmlformats.org/officeDocument/2006/relationships/slide" Target="/ppt/slides/slide5.xml" Id="Red8413a78d414976" /><Relationship Type="http://schemas.openxmlformats.org/officeDocument/2006/relationships/slide" Target="/ppt/slides/slide6.xml" Id="R70f15bffe1b74ad6" /><Relationship Type="http://schemas.openxmlformats.org/officeDocument/2006/relationships/slide" Target="/ppt/slides/slide7.xml" Id="Rb96503084242419b" /><Relationship Type="http://schemas.openxmlformats.org/officeDocument/2006/relationships/slide" Target="/ppt/slides/slide8.xml" Id="R8877263978a7497a" /><Relationship Type="http://schemas.openxmlformats.org/officeDocument/2006/relationships/slide" Target="/ppt/slides/slide9.xml" Id="Rd1c6426f9edb4a2c" /><Relationship Type="http://schemas.openxmlformats.org/officeDocument/2006/relationships/slide" Target="/ppt/slides/slide10.xml" Id="R9ee5100cb41c4bf7" /><Relationship Type="http://schemas.openxmlformats.org/officeDocument/2006/relationships/slide" Target="/ppt/slides/slide11.xml" Id="R78e4cab86c09467a" /><Relationship Type="http://schemas.openxmlformats.org/officeDocument/2006/relationships/slide" Target="/ppt/slides/slide12.xml" Id="R6b0bd83062d0482a" /><Relationship Type="http://schemas.openxmlformats.org/officeDocument/2006/relationships/slide" Target="/ppt/slides/slide13.xml" Id="Rafd0b6172f584082" /><Relationship Type="http://schemas.openxmlformats.org/officeDocument/2006/relationships/slide" Target="/ppt/slides/slide14.xml" Id="Rc53a4f1e2b344872" /><Relationship Type="http://schemas.openxmlformats.org/officeDocument/2006/relationships/slide" Target="/ppt/slides/slide15.xml" Id="R3264b57e22774f0e" /><Relationship Type="http://schemas.openxmlformats.org/officeDocument/2006/relationships/slide" Target="/ppt/slides/slide16.xml" Id="Rec2637bcdb9b4886" /><Relationship Type="http://schemas.openxmlformats.org/officeDocument/2006/relationships/slide" Target="/ppt/slides/slide17.xml" Id="R7dac72d6bc2940da" /><Relationship Type="http://schemas.openxmlformats.org/officeDocument/2006/relationships/slide" Target="/ppt/slides/slide18.xml" Id="Rbb2e40fca3104e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b15fa0a5c440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abe59fa20c4796" /><Relationship Type="http://schemas.openxmlformats.org/officeDocument/2006/relationships/notesMaster" Target="/ppt/notesMasters/notesMaster1.xml" Id="R11cb16b3ef3f4c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6c2051d0c4499b" /><Relationship Type="http://schemas.openxmlformats.org/officeDocument/2006/relationships/notesMaster" Target="/ppt/notesMasters/notesMaster1.xml" Id="R11943dd7d88841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913b07efbf4ec0" /><Relationship Type="http://schemas.openxmlformats.org/officeDocument/2006/relationships/notesMaster" Target="/ppt/notesMasters/notesMaster1.xml" Id="R0c2f51ddf95448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ec03e4aa264216" /><Relationship Type="http://schemas.openxmlformats.org/officeDocument/2006/relationships/notesMaster" Target="/ppt/notesMasters/notesMaster1.xml" Id="R5707d0d49c334e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9192d3eae64a81" /><Relationship Type="http://schemas.openxmlformats.org/officeDocument/2006/relationships/notesMaster" Target="/ppt/notesMasters/notesMaster1.xml" Id="Rbeff628ff9b543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0cc7a34f694e0e" /><Relationship Type="http://schemas.openxmlformats.org/officeDocument/2006/relationships/notesMaster" Target="/ppt/notesMasters/notesMaster1.xml" Id="Rd79416f532f549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fdb6ef648a4b06" /><Relationship Type="http://schemas.openxmlformats.org/officeDocument/2006/relationships/notesMaster" Target="/ppt/notesMasters/notesMaster1.xml" Id="R4f37931b45fd48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80b162ba3240c9" /><Relationship Type="http://schemas.openxmlformats.org/officeDocument/2006/relationships/notesMaster" Target="/ppt/notesMasters/notesMaster1.xml" Id="Rde169b12d3394c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576463fdfd440a" /><Relationship Type="http://schemas.openxmlformats.org/officeDocument/2006/relationships/notesMaster" Target="/ppt/notesMasters/notesMaster1.xml" Id="Rf0daf094694349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43d08b9e674fb5" /><Relationship Type="http://schemas.openxmlformats.org/officeDocument/2006/relationships/notesMaster" Target="/ppt/notesMasters/notesMaster1.xml" Id="R26460d7c620c45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508442ebb34728" /><Relationship Type="http://schemas.openxmlformats.org/officeDocument/2006/relationships/notesMaster" Target="/ppt/notesMasters/notesMaster1.xml" Id="R7f01033c51964f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1bdffb3d1b4d21" /><Relationship Type="http://schemas.openxmlformats.org/officeDocument/2006/relationships/notesMaster" Target="/ppt/notesMasters/notesMaster1.xml" Id="R93928ed652c24f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ca98952d4c4493d" /><Relationship Type="http://schemas.openxmlformats.org/officeDocument/2006/relationships/notesMaster" Target="/ppt/notesMasters/notesMaster1.xml" Id="Rbf894c71965744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8b4c91218a49de" /><Relationship Type="http://schemas.openxmlformats.org/officeDocument/2006/relationships/notesMaster" Target="/ppt/notesMasters/notesMaster1.xml" Id="Rc9add76be29340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f5aeb7f741c4023" /><Relationship Type="http://schemas.openxmlformats.org/officeDocument/2006/relationships/notesMaster" Target="/ppt/notesMasters/notesMaster1.xml" Id="Rd132e37ca90946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38adba3ff3495e" /><Relationship Type="http://schemas.openxmlformats.org/officeDocument/2006/relationships/notesMaster" Target="/ppt/notesMasters/notesMaster1.xml" Id="Rc3481cd3e92a4a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d4fb858742b46fd" /><Relationship Type="http://schemas.openxmlformats.org/officeDocument/2006/relationships/notesMaster" Target="/ppt/notesMasters/notesMaster1.xml" Id="R1c3c636430194fd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b635286e5b48a5" /><Relationship Type="http://schemas.openxmlformats.org/officeDocument/2006/relationships/notesMaster" Target="/ppt/notesMasters/notesMaster1.xml" Id="R1345490753df41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Introduce the team and the one-line idea: an assistant that prepares procurement paperwork for a small shop, where every money decision stays with a human. (~30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Tell the story: the shop's stock lives in an exercise book. If it is lost or water-damaged, nobody knows what is low, how much to order or from whom. Supplier reps pressure junior staff to over-order. The goal is not faster decisions; it is the shop's own numbers and rules, available and checkable.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Walk the flow left to right. Data is synthetic CSVs plus a 12-document policy corpus. The model chooses tools and explains; Python does all the maths and rules; the output is a DRAFT that a human approves.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This is the AI Boundary Matrix (docs/requirements/ai-boundary-matrix.md). Stress the bottom rows: approval and payment are not prompt rules, they are the ABSENCE of a tool. The model cannot do them even if it tries.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Use the diagram. Every request goes through src/llm_client.py (one fallback chain) and every tool call through registry.execute_tool (allow-list, argument validation, trusted context, trace). The worst the model can do is explain a correct draft badly. (~60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Model: gemini-3.8-flash with a 5-model fallback chain (free tier = 20 requests/day per model; 2.5-flash returns 404, F-06). Prompts are versioned files (v1.0 -&gt; v2.5) with tests. The key lesson: in Week 2 the model got the arithmetic wrong under injection (F-04), so v2.0.0 moved ALL maths into tools.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12 synthetic policy documents, chunked by heading, BM25 index, score gate, top 3 plus the next section. Every claim must cite a source id, and the code checks the ids. Unanswerable questions say 'not in the documents'. Show R-4 honestly: keyword search cannot reason about number ranges.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8 tools, none can approve, order, pay or contact anyone. The restock agent: preconditions -&gt; SENSE (code) -&gt; model chooses the next tool -&gt; registry runs it -&gt; observe -&gt; post-conditions -&gt; STOP. Limits: 5 turns, 6 tool calls, 3 allowed tools. The OUTCOME is decided by code, not by the model's wording. Read the worked example numbers. (~60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The workflow is an explicit state machine: APPROVED can only be reached from AWAITING_APPROVAL, and only the human gate does that. Drafts, audit events and sessions are stored in SQLite, scoped by shop and user; the model can never choose its shop. Memory is justified (supplier preferences, feedback), never raw chat. MCP server exposes the tools with permission levels.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Boonabaana Bronia. The Streamlit UI calls the same functions as the console; no new business logic. The status line (10 of 15 low) comes from get_low_stock(), not from the model. Mention hosting (Render / Streamlit Cloud) and that the home screen needs no API key. Replace the second box with the next screen once it is built.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1) Open the web UI / console. 2) Run a weekly restock with UGX 300,000: show the timeline and the DRAFT. 3) Open Review drafts: the draft waits for a human. 4) Ask the AI to approve it: it refuses, because no approve tool exists. 5) Approve it yourself and show the audit entry. If the quota runs out, switch to the fallback screenshots.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Open one trace file and read a row aloud: run id, tool, arguments, status, latency. Every model call, every tool call (allowed AND blocked), every human decision and every state transition is written by code, not by the model.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Boonabaana Bronia. Two Week 6 branches were merged; the tool saved drafts to SQLite while the approval screen still read JSON files. The agent said 'draft created, awaiting approval', but the human saw nothing. Each branch passed its own tests; only a full run after the merge exposed it. Fix: one scoped draft store. Lesson: run every suite after every merge. Evidence: evidence/final/f26_*. (~60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Map each brief requirement to the code: permissions = allow-list (no approve/pay tool); validation = JSON Schema + input guardrail; logs = the four trace streams; approval = human-only gate with typed confirmation; tool limits = turn and call caps. These are code, not prompt instructions.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119 offline tests across nine suites, all without the model, so anyone can verify the release without quota. 31 Week 7 scenarios cover normal, edge, corrupted, adversarial, tool-failure and unauthorised-action cases. 26 failures are documented with cause, fix and the test that proves it.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Be honest: R-4, two SQLite stores, all shops share the same CSVs, no login, no CI, UI still being completed, free-tier quota. Then the future-work list in priority order.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One line per member about what they built, and show the ClickUp board (tasks, owners, deadlines). Only list work each person actually did. (~45 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Mwesigwa Arnold Mugahi. Invite questions. Likely questions: why not let the model compute? (F-04); how do you know it cannot approve? (no tool + test O-15); what happens if the quota runs out? (fallback chain, offline tests); how are shops isolated? (shop id injected by code, F-25).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0acd6994364a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b3b52f43b64e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179d2f0e484e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915086a6314b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ce6487a33c4f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6fdf06bddd4eb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caee5312a8140c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9b4b5a116ca40d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e6a219ac3614d8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753358a0f574d5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6b9699e6650417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7359C02-00D8-49BC-A47D-A8DF7F37BBA1}"/>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1D02794B-7007-42CE-BF58-093E7CB29A1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E0EE4742-6A32-4519-99F4-3FD8186070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2F5A168-08CF-414B-8497-6AA34F4A45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1D23B7-D6B3-4971-9A43-622408DC03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933B9C-2703-4111-B83E-A6F5726319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55E8CEB-C205-40B8-B39B-6BA16B03797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8857CDA-63AD-49C1-9231-B679D8E3D2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4E72A58-0AD7-42E6-8EA5-2B6EBDE911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846AED5-1648-453D-883A-6BFD6BB7A4D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954B9C0-8661-4C0E-A378-57A505096D76}"/>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D16E49B-0F67-4086-A34E-D7B324C205C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3D6B52C-9DD6-4AE9-8BD3-53981A8338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51250DA-5B94-4F35-A903-73E1E49DA7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1494FB3-86DD-46D2-A262-4B6B84BF07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B262DE-C55A-45F9-B919-C6BCB3679E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B36CEEE-5B94-4EEB-8B42-F3D9629286D4}"/>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584E5205-4E89-45AF-B618-FBE78E1C1BA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C4C9AAD4-FC2F-4499-B68A-157D401117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A066CFA-0FC8-478F-95FB-ACC120F926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43B7E7C-E90E-4695-9F86-6723A3469E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6C35B1-8A62-40A5-98A9-6EF2683697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0951050-13D7-4B9F-9C9E-2685154D5333}"/>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C969E5E-A634-4911-808D-8BE72B53D37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D0215871-DADB-426D-8546-9A3D8EABF1C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7174EEA-0FEB-445A-8993-579A9D12FD5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2D5D9B4-9829-4A3E-941A-A6490AE7B6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74178CA6-4BBB-483A-978E-22A0756CA5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15802F1-8B85-49BE-9073-342A893FA0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F0B74B-84F0-4554-9FEA-37880DC0F7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EF85280-8D26-4784-B797-063D982FB1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3CEFD821-6060-4D81-992D-C014388714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C83AED3-FCED-41B3-8005-994B1F59C6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C454A9A-A386-4D45-992D-32378ED047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5142C5CA-B980-417E-8ABA-C85837344F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0B8F9F-8FCF-4DD9-9604-AF105E0CE3C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39BF47-0D94-421E-8BDA-73D7392DF8E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0F537CF-F742-4B57-8668-D6D75CB5985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95718D5-61FF-45E2-802B-44B14B7EE1E2}"/>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58961C2-F824-4B4B-A8CC-4FE5B3FE215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50ACBB20-5211-4493-9B49-12E64BD843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C08DE10-5E72-435D-9F64-EF33098F22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B0C33-4D8C-44EA-BFBA-4A7AA16E598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478A77FA-3D2E-4F56-BEF4-1132DE83D7A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D0A20DB-BE83-4730-95E4-32334020CBC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1924A1A-4CA4-4F2D-AA70-B3FC920D30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76C06D3D-26F2-4B39-A23A-1B85CC15D8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71A0D62-213B-4901-88E0-6B4D75993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6F2E5E-2BE8-4EAB-9DFB-23111899DE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AA8002D-C4DB-4C71-AA9A-A2A4468170C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8AE8C79-47FF-42A0-AB73-D2C24AD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9CEED81-06E6-4242-9003-FA34E7D29A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15D56F7-DE76-4C2C-9FB4-C6BA983E59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8D3B9E9-42CF-4E47-ABE5-B21AA473823B}"/>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D500558-2761-4B15-B9B1-D55CDD4A033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9CDBDA9-5FCA-4626-8051-9A991D2102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AFE8FA6-B330-4287-8F82-2F13172D27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683187D-55A6-4BF4-891C-3349B7EB25D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e104a7edaf41bc" /><Relationship Type="http://schemas.openxmlformats.org/officeDocument/2006/relationships/slideLayout" Target="/ppt/slideLayouts/slideLayout1.xml" Id="R83c5ee049f094922" /><Relationship Type="http://schemas.openxmlformats.org/officeDocument/2006/relationships/slideLayout" Target="/ppt/slideLayouts/slideLayout2.xml" Id="R62b5fa6022df4449" /><Relationship Type="http://schemas.openxmlformats.org/officeDocument/2006/relationships/slideLayout" Target="/ppt/slideLayouts/slideLayout3.xml" Id="R727ae08959594580" /><Relationship Type="http://schemas.openxmlformats.org/officeDocument/2006/relationships/slideLayout" Target="/ppt/slideLayouts/slideLayout4.xml" Id="Rdcf957f1f7d34d68" /><Relationship Type="http://schemas.openxmlformats.org/officeDocument/2006/relationships/slideLayout" Target="/ppt/slideLayouts/slideLayout5.xml" Id="R96d60116809c487c" /><Relationship Type="http://schemas.openxmlformats.org/officeDocument/2006/relationships/slideLayout" Target="/ppt/slideLayouts/slideLayout6.xml" Id="R7d760d756a7b45d1" /><Relationship Type="http://schemas.openxmlformats.org/officeDocument/2006/relationships/slideLayout" Target="/ppt/slideLayouts/slideLayout7.xml" Id="R9c858a4d8b994cf7" /><Relationship Type="http://schemas.openxmlformats.org/officeDocument/2006/relationships/slideLayout" Target="/ppt/slideLayouts/slideLayout8.xml" Id="Rf212f444d0ef4a2e" /><Relationship Type="http://schemas.openxmlformats.org/officeDocument/2006/relationships/slideLayout" Target="/ppt/slideLayouts/slideLayout9.xml" Id="R5245de6ff7c440a4" /><Relationship Type="http://schemas.openxmlformats.org/officeDocument/2006/relationships/slideLayout" Target="/ppt/slideLayouts/slideLayout10.xml" Id="R2e96084770524913" /><Relationship Type="http://schemas.openxmlformats.org/officeDocument/2006/relationships/slideLayout" Target="/ppt/slideLayouts/slideLayout11.xml" Id="R3e9a06d107f3417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9B3C4EE-0D30-4016-9F54-BF7EDF6CC59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FFE21BB-A45C-4DEF-B47B-39EAA20ABCC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E70CBE0-2DFF-4A47-B1E6-F50E3876B19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E4A1C1B-FF8C-4148-A46D-AD21C1CFE4B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E257748-F04E-44F3-A3C7-86E98B62B382}"/>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c5ee049f094922"/>
    <p:sldLayoutId xmlns:r="http://schemas.openxmlformats.org/officeDocument/2006/relationships" id="2147483650" r:id="R62b5fa6022df4449"/>
    <p:sldLayoutId xmlns:r="http://schemas.openxmlformats.org/officeDocument/2006/relationships" id="2147483651" r:id="R727ae08959594580"/>
    <p:sldLayoutId xmlns:r="http://schemas.openxmlformats.org/officeDocument/2006/relationships" id="2147483652" r:id="Rdcf957f1f7d34d68"/>
    <p:sldLayoutId xmlns:r="http://schemas.openxmlformats.org/officeDocument/2006/relationships" id="2147483653" r:id="R96d60116809c487c"/>
    <p:sldLayoutId xmlns:r="http://schemas.openxmlformats.org/officeDocument/2006/relationships" id="2147483654" r:id="R7d760d756a7b45d1"/>
    <p:sldLayoutId xmlns:r="http://schemas.openxmlformats.org/officeDocument/2006/relationships" id="2147483655" r:id="R9c858a4d8b994cf7"/>
    <p:sldLayoutId xmlns:r="http://schemas.openxmlformats.org/officeDocument/2006/relationships" id="2147483656" r:id="Rf212f444d0ef4a2e"/>
    <p:sldLayoutId xmlns:r="http://schemas.openxmlformats.org/officeDocument/2006/relationships" id="2147483657" r:id="R5245de6ff7c440a4"/>
    <p:sldLayoutId xmlns:r="http://schemas.openxmlformats.org/officeDocument/2006/relationships" id="2147483658" r:id="R2e96084770524913"/>
    <p:sldLayoutId xmlns:r="http://schemas.openxmlformats.org/officeDocument/2006/relationships" id="2147483659" r:id="R3e9a06d107f3417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17fce7273e74382" /><Relationship Type="http://schemas.openxmlformats.org/officeDocument/2006/relationships/notesSlide" Target="/ppt/notesSlides/notesSlide1.xml" Id="R5894898c475b46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55c5e8b616145e7" /><Relationship Type="http://schemas.openxmlformats.org/officeDocument/2006/relationships/notesSlide" Target="/ppt/notesSlides/notesSlide2.xml" Id="Rf6e2fce100b541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005a3f04f0a4ed2" /><Relationship Type="http://schemas.openxmlformats.org/officeDocument/2006/relationships/notesSlide" Target="/ppt/notesSlides/notesSlide3.xml" Id="R7f367bddb77b4e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5a8111a1cd04757" /><Relationship Type="http://schemas.openxmlformats.org/officeDocument/2006/relationships/notesSlide" Target="/ppt/notesSlides/notesSlide4.xml" Id="R52f7212535aa40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41f75f6b47648e8" /><Relationship Type="http://schemas.openxmlformats.org/officeDocument/2006/relationships/image" Target="/ppt/media/image.png" Id="Re77878eab65543ef" /><Relationship Type="http://schemas.openxmlformats.org/officeDocument/2006/relationships/notesSlide" Target="/ppt/notesSlides/notesSlide5.xml" Id="R25719b130b6b41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8bcd7a94d9984126" /><Relationship Type="http://schemas.openxmlformats.org/officeDocument/2006/relationships/notesSlide" Target="/ppt/notesSlides/notesSlide6.xml" Id="R440292f2dfd640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5837ef14a0a4e63" /><Relationship Type="http://schemas.openxmlformats.org/officeDocument/2006/relationships/image" Target="/ppt/media/image2.png" Id="Ra26d51b8e46c4d29" /><Relationship Type="http://schemas.openxmlformats.org/officeDocument/2006/relationships/notesSlide" Target="/ppt/notesSlides/notesSlide7.xml" Id="Rb64ac340476448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43e0da5edc346e5" /><Relationship Type="http://schemas.openxmlformats.org/officeDocument/2006/relationships/notesSlide" Target="/ppt/notesSlides/notesSlide8.xml" Id="R689d67b67f9e41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350d38464928425e" /><Relationship Type="http://schemas.openxmlformats.org/officeDocument/2006/relationships/image" Target="/ppt/media/image3.png" Id="R2c93a4ee011a47d5" /><Relationship Type="http://schemas.openxmlformats.org/officeDocument/2006/relationships/notesSlide" Target="/ppt/notesSlides/notesSlide9.xml" Id="Re63f0f201dbd48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63208eb6dd0b46ad" /><Relationship Type="http://schemas.openxmlformats.org/officeDocument/2006/relationships/image" Target="/ppt/media/image4.png" Id="R245c644556484da7" /><Relationship Type="http://schemas.openxmlformats.org/officeDocument/2006/relationships/image" Target="/ppt/media/image5.png" Id="R86fb29fa7b2243d4" /><Relationship Type="http://schemas.openxmlformats.org/officeDocument/2006/relationships/notesSlide" Target="/ppt/notesSlides/notesSlide10.xml" Id="R0d1d67cedd2346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6f1d888d00cf496b" /><Relationship Type="http://schemas.openxmlformats.org/officeDocument/2006/relationships/image" Target="/ppt/media/image6.png" Id="R097e241492114bcd" /><Relationship Type="http://schemas.openxmlformats.org/officeDocument/2006/relationships/image" Target="/ppt/media/image7.png" Id="Rb69624efc7034233" /><Relationship Type="http://schemas.openxmlformats.org/officeDocument/2006/relationships/notesSlide" Target="/ppt/notesSlides/notesSlide11.xml" Id="Ra99de4f8451443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1518709717af462b" /><Relationship Type="http://schemas.openxmlformats.org/officeDocument/2006/relationships/image" Target="/ppt/media/image8.png" Id="Raccbcfd0a1484db6" /><Relationship Type="http://schemas.openxmlformats.org/officeDocument/2006/relationships/notesSlide" Target="/ppt/notesSlides/notesSlide12.xml" Id="Rae460fea7e264f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c4df10dbdb3b4c6f" /><Relationship Type="http://schemas.openxmlformats.org/officeDocument/2006/relationships/notesSlide" Target="/ppt/notesSlides/notesSlide13.xml" Id="R1904418c848d48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785d472b938b41e3" /><Relationship Type="http://schemas.openxmlformats.org/officeDocument/2006/relationships/notesSlide" Target="/ppt/notesSlides/notesSlide14.xml" Id="Raf688f9810f841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7ec279be6d742de" /><Relationship Type="http://schemas.openxmlformats.org/officeDocument/2006/relationships/notesSlide" Target="/ppt/notesSlides/notesSlide15.xml" Id="R90a068a4a28344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93491389a9984d76" /><Relationship Type="http://schemas.openxmlformats.org/officeDocument/2006/relationships/notesSlide" Target="/ppt/notesSlides/notesSlide16.xml" Id="Reb362e2ab2b941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6360ffc7884e4daa" /><Relationship Type="http://schemas.openxmlformats.org/officeDocument/2006/relationships/notesSlide" Target="/ppt/notesSlides/notesSlide17.xml" Id="R17b091ffc99b49b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d8f16d342db645ea" /><Relationship Type="http://schemas.openxmlformats.org/officeDocument/2006/relationships/notesSlide" Target="/ppt/notesSlides/notesSlide18.xml" Id="Rc648eb81c276448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60D0722-D740-4793-8546-0B8026C7555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308B485D-BF56-44B0-B876-1C70A6ECCB77}"/>
              </a:ext>
            </a:extLst>
          </p:cNvPr>
          <p:cNvSpPr>
            <a:spLocks xmlns:a="http://schemas.openxmlformats.org/drawingml/2006/main" noGrp="1"/>
          </p:cNvSpPr>
          <p:nvPr/>
        </p:nvSpPr>
        <p:spPr>
          <a:xfrm xmlns:a="http://schemas.openxmlformats.org/drawingml/2006/main">
            <a:off x="731520" y="1828800"/>
            <a:ext cx="1463040" cy="73152"/>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8EB30188-5D32-4374-ADA3-1555DFDD5384}"/>
              </a:ext>
            </a:extLst>
          </p:cNvPr>
          <p:cNvSpPr>
            <a:spLocks xmlns:a="http://schemas.openxmlformats.org/drawingml/2006/main" noGrp="1"/>
          </p:cNvSpPr>
          <p:nvPr/>
        </p:nvSpPr>
        <p:spPr>
          <a:xfrm xmlns:a="http://schemas.openxmlformats.org/drawingml/2006/main">
            <a:off x="731520" y="2011680"/>
            <a:ext cx="10698480" cy="2489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4400" b="1">
                <a:solidFill>
                  <a:srgbClr val="FFFFFF"/>
                </a:solidFill>
              </a:rPr>
              <a:t>SME Procurement Assistant</a:t>
            </a:r>
          </a:p>
          <a:p xmlns:a="http://schemas.openxmlformats.org/drawingml/2006/main">
            <a:pPr>
              <a:spcAft>
                <a:spcPts val="1000"/>
              </a:spcAft>
              <a:buNone/>
            </a:pPr>
            <a:r>
              <a:rPr sz="2600" b="1">
                <a:solidFill>
                  <a:srgbClr val="F5A100"/>
                </a:solidFill>
              </a:rPr>
              <a:t>AI supports, never decides.</a:t>
            </a:r>
          </a:p>
          <a:p xmlns:a="http://schemas.openxmlformats.org/drawingml/2006/main">
            <a:pPr>
              <a:spcAft>
                <a:spcPts val="1000"/>
              </a:spcAft>
              <a:buNone/>
            </a:pPr>
            <a:r>
              <a:rPr sz="2200" b="0">
                <a:solidFill>
                  <a:srgbClr val="FFFFFF"/>
                </a:solidFill>
              </a:rPr>
              <a:t>An agentic procurement assistant for a Ugandan stationery shop</a:t>
            </a:r>
          </a:p>
          <a:p xmlns:a="http://schemas.openxmlformats.org/drawingml/2006/main">
            <a:pPr>
              <a:spcAft>
                <a:spcPts val="1000"/>
              </a:spcAft>
              <a:buNone/>
            </a:pPr>
            <a:r>
              <a:rPr sz="1600" b="0">
                <a:solidFill>
                  <a:srgbClr val="FFFFFF"/>
                </a:solidFill>
              </a:rPr>
              <a:t>BSE4104 Emerging Trends in Software Engineering · Makerere University · October 2026</a:t>
            </a:r>
          </a:p>
          <a:p xmlns:a="http://schemas.openxmlformats.org/drawingml/2006/main">
            <a:pPr>
              <a:spcAft>
                <a:spcPts val="1000"/>
              </a:spcAft>
              <a:buNone/>
            </a:pPr>
            <a:r>
              <a:rPr sz="1600" b="0">
                <a:solidFill>
                  <a:srgbClr val="FFFFFF"/>
                </a:solidFill>
              </a:rPr>
              <a:t>Team: Mwesigwa Arnold Mugahi · Boonabaana Bronia · Naisanga Patricia · Nakyambadde Mariam · Tulinawe Ismail</a:t>
            </a:r>
          </a:p>
        </p:txBody>
      </p:sp>
    </p:spTree>
    <p:extLst>
      <p:ext uri="{BB962C8B-B14F-4D97-AF65-F5344CB8AC3E}">
        <p14:creationId xmlns:p14="http://schemas.microsoft.com/office/powerpoint/2010/main" val="5477892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39ADC4F-64D8-45D7-9525-AA43F08431A5}"/>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FCF2273-9A1B-46B2-B650-18FB020EFF58}"/>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51DD0A38-09E5-4463-8D65-172506A1151B}"/>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The problem</a:t>
            </a:r>
          </a:p>
        </p:txBody>
      </p:sp>
      <p:sp>
        <p:nvSpPr>
          <p:cNvPr id="5" name="TextBox 4">
            <a:extLst xmlns:a="http://schemas.openxmlformats.org/drawingml/2006/main">
              <a:ext uri="{FF2B5EF4-FFF2-40B4-BE49-F238E27FC236}">
                <a16:creationId xmlns:a16="http://schemas.microsoft.com/office/drawing/2014/main" id="{4EE49AF6-2984-40FF-BF74-0FA2A4B9791B}"/>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WHY</a:t>
            </a:r>
          </a:p>
        </p:txBody>
      </p:sp>
      <p:sp>
        <p:nvSpPr>
          <p:cNvPr id="6" name="TextBox 5">
            <a:extLst xmlns:a="http://schemas.openxmlformats.org/drawingml/2006/main">
              <a:ext uri="{FF2B5EF4-FFF2-40B4-BE49-F238E27FC236}">
                <a16:creationId xmlns:a16="http://schemas.microsoft.com/office/drawing/2014/main" id="{50BD24F9-031D-4101-8984-E8DA7E859254}"/>
              </a:ext>
            </a:extLst>
          </p:cNvPr>
          <p:cNvSpPr>
            <a:spLocks xmlns:a="http://schemas.openxmlformats.org/drawingml/2006/main" noGrp="1"/>
          </p:cNvSpPr>
          <p:nvPr/>
        </p:nvSpPr>
        <p:spPr>
          <a:xfrm xmlns:a="http://schemas.openxmlformats.org/drawingml/2006/main">
            <a:off x="548640" y="1371600"/>
            <a:ext cx="11064240" cy="2072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200" b="0">
                <a:solidFill>
                  <a:srgbClr val="1B2A5B"/>
                </a:solidFill>
              </a:rPr>
              <a:t>• Stock records live in an exercise book and can be lost or damaged</a:t>
            </a:r>
          </a:p>
          <a:p xmlns:a="http://schemas.openxmlformats.org/drawingml/2006/main">
            <a:pPr>
              <a:spcAft>
                <a:spcPts val="600"/>
              </a:spcAft>
              <a:buNone/>
            </a:pPr>
            <a:r>
              <a:rPr sz="2200" b="0">
                <a:solidFill>
                  <a:srgbClr val="1B2A5B"/>
                </a:solidFill>
              </a:rPr>
              <a:t>• Staff need clear low-stock signals, order quantities and supplier comparisons</a:t>
            </a:r>
          </a:p>
          <a:p xmlns:a="http://schemas.openxmlformats.org/drawingml/2006/main">
            <a:pPr>
              <a:spcAft>
                <a:spcPts val="600"/>
              </a:spcAft>
              <a:buNone/>
            </a:pPr>
            <a:r>
              <a:rPr sz="2200" b="0">
                <a:solidFill>
                  <a:srgbClr val="1B2A5B"/>
                </a:solidFill>
              </a:rPr>
              <a:t>• Supplier pressure can lead to over-ordering</a:t>
            </a:r>
          </a:p>
          <a:p xmlns:a="http://schemas.openxmlformats.org/drawingml/2006/main">
            <a:pPr>
              <a:spcAft>
                <a:spcPts val="600"/>
              </a:spcAft>
              <a:buNone/>
            </a:pPr>
            <a:r>
              <a:rPr sz="2200" b="0">
                <a:solidFill>
                  <a:srgbClr val="1B2A5B"/>
                </a:solidFill>
              </a:rPr>
              <a:t>• Approval rules may be held by one person</a:t>
            </a:r>
          </a:p>
          <a:p xmlns:a="http://schemas.openxmlformats.org/drawingml/2006/main">
            <a:pPr>
              <a:spcAft>
                <a:spcPts val="600"/>
              </a:spcAft>
              <a:buNone/>
            </a:pPr>
            <a:r>
              <a:rPr sz="2200" b="0">
                <a:solidFill>
                  <a:srgbClr val="1B2A5B"/>
                </a:solidFill>
              </a:rPr>
              <a:t>• Goal: make the figures and rules checkable while keeping financial decisions with people</a:t>
            </a:r>
          </a:p>
        </p:txBody>
      </p:sp>
    </p:spTree>
    <p:extLst>
      <p:ext uri="{BB962C8B-B14F-4D97-AF65-F5344CB8AC3E}">
        <p14:creationId xmlns:p14="http://schemas.microsoft.com/office/powerpoint/2010/main" val="25754555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BCB10D5-F2AD-4C8D-99DA-D1BFC81E30F1}"/>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A16FCAA-E3E7-47DC-9FC8-3E7244CAE102}"/>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9981BC10-C2F9-4BAA-8A0A-17D1CD3E5FBC}"/>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What we built</a:t>
            </a:r>
          </a:p>
        </p:txBody>
      </p:sp>
      <p:sp>
        <p:nvSpPr>
          <p:cNvPr id="5" name="TextBox 4">
            <a:extLst xmlns:a="http://schemas.openxmlformats.org/drawingml/2006/main">
              <a:ext uri="{FF2B5EF4-FFF2-40B4-BE49-F238E27FC236}">
                <a16:creationId xmlns:a16="http://schemas.microsoft.com/office/drawing/2014/main" id="{8A9BECDF-4853-4BBC-B9EC-5E627E1BC08F}"/>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SOLUTION</a:t>
            </a:r>
          </a:p>
        </p:txBody>
      </p:sp>
      <p:sp>
        <p:nvSpPr>
          <p:cNvPr id="6" name="Rectangle 5">
            <a:extLst xmlns:a="http://schemas.openxmlformats.org/drawingml/2006/main">
              <a:ext uri="{FF2B5EF4-FFF2-40B4-BE49-F238E27FC236}">
                <a16:creationId xmlns:a16="http://schemas.microsoft.com/office/drawing/2014/main" id="{1649FE70-922E-4D50-A65B-E95C417316CA}"/>
              </a:ext>
            </a:extLst>
          </p:cNvPr>
          <p:cNvSpPr>
            <a:spLocks xmlns:a="http://schemas.openxmlformats.org/drawingml/2006/main" noGrp="1"/>
          </p:cNvSpPr>
          <p:nvPr/>
        </p:nvSpPr>
        <p:spPr>
          <a:xfrm xmlns:a="http://schemas.openxmlformats.org/drawingml/2006/main">
            <a:off x="457200" y="2011680"/>
            <a:ext cx="2011680" cy="1463040"/>
          </a:xfrm>
          <a:prstGeom xmlns:a="http://schemas.openxmlformats.org/drawingml/2006/main" prst="rect">
            <a:avLst/>
          </a:prstGeom>
          <a:solidFill xmlns:a="http://schemas.openxmlformats.org/drawingml/2006/main">
            <a:srgbClr val="E8EC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700" b="1">
                <a:solidFill>
                  <a:srgbClr val="1B2A5B"/>
                </a:solidFill>
              </a:rPr>
              <a:t>Shop data</a:t>
            </a:r>
          </a:p>
          <a:p xmlns:a="http://schemas.openxmlformats.org/drawingml/2006/main">
            <a:pPr algn="ctr">
              <a:buNone/>
            </a:pPr>
            <a:r>
              <a:rPr sz="1700" b="1">
                <a:solidFill>
                  <a:srgbClr val="1B2A5B"/>
                </a:solidFill>
              </a:rPr>
              <a:t>(CSV + 12 policy docs)</a:t>
            </a:r>
          </a:p>
        </p:txBody>
      </p:sp>
      <p:sp>
        <p:nvSpPr>
          <p:cNvPr id="7" name="Right Arrow 6">
            <a:extLst xmlns:a="http://schemas.openxmlformats.org/drawingml/2006/main">
              <a:ext uri="{FF2B5EF4-FFF2-40B4-BE49-F238E27FC236}">
                <a16:creationId xmlns:a16="http://schemas.microsoft.com/office/drawing/2014/main" id="{D2B723F9-A6FE-48A6-9125-46EA7268AE8A}"/>
              </a:ext>
            </a:extLst>
          </p:cNvPr>
          <p:cNvSpPr>
            <a:spLocks xmlns:a="http://schemas.openxmlformats.org/drawingml/2006/main" noGrp="1"/>
          </p:cNvSpPr>
          <p:nvPr/>
        </p:nvSpPr>
        <p:spPr>
          <a:xfrm xmlns:a="http://schemas.openxmlformats.org/drawingml/2006/main">
            <a:off x="2487168" y="2606040"/>
            <a:ext cx="274320" cy="274320"/>
          </a:xfrm>
          <a:prstGeom xmlns:a="http://schemas.openxmlformats.org/drawingml/2006/main" prst="rightArrow">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7BF525C8-0E6D-4031-B0E8-96B3FB971FD2}"/>
              </a:ext>
            </a:extLst>
          </p:cNvPr>
          <p:cNvSpPr>
            <a:spLocks xmlns:a="http://schemas.openxmlformats.org/drawingml/2006/main" noGrp="1"/>
          </p:cNvSpPr>
          <p:nvPr/>
        </p:nvSpPr>
        <p:spPr>
          <a:xfrm xmlns:a="http://schemas.openxmlformats.org/drawingml/2006/main">
            <a:off x="2788920" y="2011680"/>
            <a:ext cx="2011680" cy="1463040"/>
          </a:xfrm>
          <a:prstGeom xmlns:a="http://schemas.openxmlformats.org/drawingml/2006/main" prst="rect">
            <a:avLst/>
          </a:prstGeom>
          <a:solidFill xmlns:a="http://schemas.openxmlformats.org/drawingml/2006/main">
            <a:srgbClr val="E8EC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700" b="1">
                <a:solidFill>
                  <a:srgbClr val="1B2A5B"/>
                </a:solidFill>
              </a:rPr>
              <a:t>8 deterministic</a:t>
            </a:r>
          </a:p>
          <a:p xmlns:a="http://schemas.openxmlformats.org/drawingml/2006/main">
            <a:pPr algn="ctr">
              <a:buNone/>
            </a:pPr>
            <a:r>
              <a:rPr sz="1700" b="1">
                <a:solidFill>
                  <a:srgbClr val="1B2A5B"/>
                </a:solidFill>
              </a:rPr>
              <a:t>tools (Python)</a:t>
            </a:r>
          </a:p>
        </p:txBody>
      </p:sp>
      <p:sp>
        <p:nvSpPr>
          <p:cNvPr id="9" name="Right Arrow 8">
            <a:extLst xmlns:a="http://schemas.openxmlformats.org/drawingml/2006/main">
              <a:ext uri="{FF2B5EF4-FFF2-40B4-BE49-F238E27FC236}">
                <a16:creationId xmlns:a16="http://schemas.microsoft.com/office/drawing/2014/main" id="{4F853B9E-A47D-4F70-B1C5-56666BD2B3EA}"/>
              </a:ext>
            </a:extLst>
          </p:cNvPr>
          <p:cNvSpPr>
            <a:spLocks xmlns:a="http://schemas.openxmlformats.org/drawingml/2006/main" noGrp="1"/>
          </p:cNvSpPr>
          <p:nvPr/>
        </p:nvSpPr>
        <p:spPr>
          <a:xfrm xmlns:a="http://schemas.openxmlformats.org/drawingml/2006/main">
            <a:off x="4818888" y="2606040"/>
            <a:ext cx="274320" cy="274320"/>
          </a:xfrm>
          <a:prstGeom xmlns:a="http://schemas.openxmlformats.org/drawingml/2006/main" prst="rightArrow">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0F6BC951-3031-4B2B-8118-CFD5F528F5BA}"/>
              </a:ext>
            </a:extLst>
          </p:cNvPr>
          <p:cNvSpPr>
            <a:spLocks xmlns:a="http://schemas.openxmlformats.org/drawingml/2006/main" noGrp="1"/>
          </p:cNvSpPr>
          <p:nvPr/>
        </p:nvSpPr>
        <p:spPr>
          <a:xfrm xmlns:a="http://schemas.openxmlformats.org/drawingml/2006/main">
            <a:off x="5120640" y="2011680"/>
            <a:ext cx="2011680" cy="1463040"/>
          </a:xfrm>
          <a:prstGeom xmlns:a="http://schemas.openxmlformats.org/drawingml/2006/main" prst="rect">
            <a:avLst/>
          </a:prstGeom>
          <a:solidFill xmlns:a="http://schemas.openxmlformats.org/drawingml/2006/main">
            <a:srgbClr val="E8EC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700" b="1">
                <a:solidFill>
                  <a:srgbClr val="1B2A5B"/>
                </a:solidFill>
              </a:rPr>
              <a:t>Bounded agent</a:t>
            </a:r>
          </a:p>
          <a:p xmlns:a="http://schemas.openxmlformats.org/drawingml/2006/main">
            <a:pPr algn="ctr">
              <a:buNone/>
            </a:pPr>
            <a:r>
              <a:rPr sz="1700" b="1">
                <a:solidFill>
                  <a:srgbClr val="1B2A5B"/>
                </a:solidFill>
              </a:rPr>
              <a:t>(Gemini chooses tools)</a:t>
            </a:r>
          </a:p>
        </p:txBody>
      </p:sp>
      <p:sp>
        <p:nvSpPr>
          <p:cNvPr id="11" name="Right Arrow 10">
            <a:extLst xmlns:a="http://schemas.openxmlformats.org/drawingml/2006/main">
              <a:ext uri="{FF2B5EF4-FFF2-40B4-BE49-F238E27FC236}">
                <a16:creationId xmlns:a16="http://schemas.microsoft.com/office/drawing/2014/main" id="{892BD5C9-8F12-42D3-AD17-8ADA5BF6B105}"/>
              </a:ext>
            </a:extLst>
          </p:cNvPr>
          <p:cNvSpPr>
            <a:spLocks xmlns:a="http://schemas.openxmlformats.org/drawingml/2006/main" noGrp="1"/>
          </p:cNvSpPr>
          <p:nvPr/>
        </p:nvSpPr>
        <p:spPr>
          <a:xfrm xmlns:a="http://schemas.openxmlformats.org/drawingml/2006/main">
            <a:off x="7150608" y="2606040"/>
            <a:ext cx="274320" cy="274320"/>
          </a:xfrm>
          <a:prstGeom xmlns:a="http://schemas.openxmlformats.org/drawingml/2006/main" prst="rightArrow">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D888A9C8-043E-4CF1-B4E1-454D597BE3B8}"/>
              </a:ext>
            </a:extLst>
          </p:cNvPr>
          <p:cNvSpPr>
            <a:spLocks xmlns:a="http://schemas.openxmlformats.org/drawingml/2006/main" noGrp="1"/>
          </p:cNvSpPr>
          <p:nvPr/>
        </p:nvSpPr>
        <p:spPr>
          <a:xfrm xmlns:a="http://schemas.openxmlformats.org/drawingml/2006/main">
            <a:off x="7452359" y="2011680"/>
            <a:ext cx="2011680" cy="1463040"/>
          </a:xfrm>
          <a:prstGeom xmlns:a="http://schemas.openxmlformats.org/drawingml/2006/main" prst="rect">
            <a:avLst/>
          </a:prstGeom>
          <a:solidFill xmlns:a="http://schemas.openxmlformats.org/drawingml/2006/main">
            <a:srgbClr val="E8ECF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700" b="1">
                <a:solidFill>
                  <a:srgbClr val="1B2A5B"/>
                </a:solidFill>
              </a:rPr>
              <a:t>DRAFT</a:t>
            </a:r>
          </a:p>
          <a:p xmlns:a="http://schemas.openxmlformats.org/drawingml/2006/main">
            <a:pPr algn="ctr">
              <a:buNone/>
            </a:pPr>
            <a:r>
              <a:rPr sz="1700" b="1">
                <a:solidFill>
                  <a:srgbClr val="1B2A5B"/>
                </a:solidFill>
              </a:rPr>
              <a:t>requisition</a:t>
            </a:r>
          </a:p>
        </p:txBody>
      </p:sp>
      <p:sp>
        <p:nvSpPr>
          <p:cNvPr id="13" name="Right Arrow 12">
            <a:extLst xmlns:a="http://schemas.openxmlformats.org/drawingml/2006/main">
              <a:ext uri="{FF2B5EF4-FFF2-40B4-BE49-F238E27FC236}">
                <a16:creationId xmlns:a16="http://schemas.microsoft.com/office/drawing/2014/main" id="{8E178CB6-1E4B-4946-8C0D-ABFECED4FDAF}"/>
              </a:ext>
            </a:extLst>
          </p:cNvPr>
          <p:cNvSpPr>
            <a:spLocks xmlns:a="http://schemas.openxmlformats.org/drawingml/2006/main" noGrp="1"/>
          </p:cNvSpPr>
          <p:nvPr/>
        </p:nvSpPr>
        <p:spPr>
          <a:xfrm xmlns:a="http://schemas.openxmlformats.org/drawingml/2006/main">
            <a:off x="9482328" y="2606040"/>
            <a:ext cx="274320" cy="274320"/>
          </a:xfrm>
          <a:prstGeom xmlns:a="http://schemas.openxmlformats.org/drawingml/2006/main" prst="rightArrow">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74AC573C-C16F-4889-B253-06F3CA5B5A3F}"/>
              </a:ext>
            </a:extLst>
          </p:cNvPr>
          <p:cNvSpPr>
            <a:spLocks xmlns:a="http://schemas.openxmlformats.org/drawingml/2006/main" noGrp="1"/>
          </p:cNvSpPr>
          <p:nvPr/>
        </p:nvSpPr>
        <p:spPr>
          <a:xfrm xmlns:a="http://schemas.openxmlformats.org/drawingml/2006/main">
            <a:off x="9784080" y="2011680"/>
            <a:ext cx="2011680" cy="1463040"/>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anchor="ctr"/>
          <a:lstStyle xmlns:a="http://schemas.openxmlformats.org/drawingml/2006/main"/>
          <a:p xmlns:a="http://schemas.openxmlformats.org/drawingml/2006/main">
            <a:pPr algn="ctr">
              <a:buNone/>
            </a:pPr>
            <a:r>
              <a:rPr sz="1700" b="1">
                <a:solidFill>
                  <a:srgbClr val="1B2A5B"/>
                </a:solidFill>
              </a:rPr>
              <a:t>Human approves</a:t>
            </a:r>
          </a:p>
          <a:p xmlns:a="http://schemas.openxmlformats.org/drawingml/2006/main">
            <a:pPr algn="ctr">
              <a:buNone/>
            </a:pPr>
            <a:r>
              <a:rPr sz="1700" b="1">
                <a:solidFill>
                  <a:srgbClr val="1B2A5B"/>
                </a:solidFill>
              </a:rPr>
              <a:t>or rejects</a:t>
            </a:r>
          </a:p>
        </p:txBody>
      </p:sp>
      <p:sp>
        <p:nvSpPr>
          <p:cNvPr id="15" name="TextBox 14">
            <a:extLst xmlns:a="http://schemas.openxmlformats.org/drawingml/2006/main">
              <a:ext uri="{FF2B5EF4-FFF2-40B4-BE49-F238E27FC236}">
                <a16:creationId xmlns:a16="http://schemas.microsoft.com/office/drawing/2014/main" id="{D810658F-044B-4FED-A198-EA9E6070C36B}"/>
              </a:ext>
            </a:extLst>
          </p:cNvPr>
          <p:cNvSpPr>
            <a:spLocks xmlns:a="http://schemas.openxmlformats.org/drawingml/2006/main" noGrp="1"/>
          </p:cNvSpPr>
          <p:nvPr/>
        </p:nvSpPr>
        <p:spPr>
          <a:xfrm xmlns:a="http://schemas.openxmlformats.org/drawingml/2006/main">
            <a:off x="548640" y="3931920"/>
            <a:ext cx="11064240" cy="2377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000" b="0">
                <a:solidFill>
                  <a:srgbClr val="1B2A5B"/>
                </a:solidFill>
              </a:rPr>
              <a:t>• Flags low stock, compares quotes, estimates reorder quantities, plans within a budget</a:t>
            </a:r>
          </a:p>
          <a:p xmlns:a="http://schemas.openxmlformats.org/drawingml/2006/main">
            <a:pPr>
              <a:spcAft>
                <a:spcPts val="600"/>
              </a:spcAft>
              <a:buNone/>
            </a:pPr>
            <a:r>
              <a:rPr sz="2000" b="0">
                <a:solidFill>
                  <a:srgbClr val="1B2A5B"/>
                </a:solidFill>
              </a:rPr>
              <a:t>• Answers policy questions from the shop's own documents, with citations</a:t>
            </a:r>
          </a:p>
          <a:p xmlns:a="http://schemas.openxmlformats.org/drawingml/2006/main">
            <a:pPr>
              <a:spcAft>
                <a:spcPts val="600"/>
              </a:spcAft>
              <a:buNone/>
            </a:pPr>
            <a:r>
              <a:rPr sz="2000" b="0">
                <a:solidFill>
                  <a:srgbClr val="1B2A5B"/>
                </a:solidFill>
              </a:rPr>
              <a:t>• Console app + web UI (Streamlit) over the same functions</a:t>
            </a:r>
          </a:p>
        </p:txBody>
      </p:sp>
    </p:spTree>
    <p:extLst>
      <p:ext uri="{BB962C8B-B14F-4D97-AF65-F5344CB8AC3E}">
        <p14:creationId xmlns:p14="http://schemas.microsoft.com/office/powerpoint/2010/main" val="44946570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E1FCEAF-9C0C-4508-A43A-E0418D0C92DB}"/>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C0997D92-A3C0-4963-8820-C98C57C90F97}"/>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EAA9A0F-58E1-4E49-B5C1-A367F9AE67D6}"/>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AI supports, never decides</a:t>
            </a:r>
          </a:p>
        </p:txBody>
      </p:sp>
      <p:sp>
        <p:nvSpPr>
          <p:cNvPr id="5" name="TextBox 4">
            <a:extLst xmlns:a="http://schemas.openxmlformats.org/drawingml/2006/main">
              <a:ext uri="{FF2B5EF4-FFF2-40B4-BE49-F238E27FC236}">
                <a16:creationId xmlns:a16="http://schemas.microsoft.com/office/drawing/2014/main" id="{B504EF00-5AB2-44E4-AF87-77C6C8B54392}"/>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BOUNDARY</a:t>
            </a:r>
          </a:p>
        </p:txBody>
      </p:sp>
      <p:graphicFrame>
        <p:nvGraphicFramePr>
          <p:cNvPr id="6" name="Table 5">
            <a:extLst xmlns:a="http://schemas.openxmlformats.org/drawingml/2006/main">
              <a:ext uri="{FF2B5EF4-FFF2-40B4-BE49-F238E27FC236}">
                <a16:creationId xmlns:a16="http://schemas.microsoft.com/office/drawing/2014/main" id="{A02614B1-64F1-416F-99FD-A78660FCD64B}"/>
              </a:ext>
            </a:extLst>
          </p:cNvPr>
          <p:cNvGraphicFramePr/>
          <p:nvPr/>
        </p:nvGraphicFramePr>
        <p:xfrm>
          <a:off xmlns:a="http://schemas.openxmlformats.org/drawingml/2006/main" x="457200" y="1417320"/>
          <a:ext xmlns:a="http://schemas.openxmlformats.org/drawingml/2006/main" cx="11247120" cy="3968496"/>
        </p:xfrm>
        <a:graphic xmlns:a="http://schemas.openxmlformats.org/drawingml/2006/main">
          <a:graphicData uri="http://schemas.openxmlformats.org/drawingml/2006/table">
            <a:tbl>
              <a:tblPr firstRow="1" bandRow="1">
                <a:tableStyleId>{5C22544A-7EE6-4342-B048-85BDC9FD1C3A}</a:tableStyleId>
              </a:tblPr>
              <a:tblGrid>
                <a:gridCol w="2377440"/>
                <a:gridCol w="2834640"/>
                <a:gridCol w="3383280"/>
                <a:gridCol w="2651760"/>
              </a:tblGrid>
              <a:tr h="566928">
                <a:tc>
                  <a:txBody>
                    <a:bodyPr/>
                    <a:lstStyle/>
                    <a:p>
                      <a:r>
                        <a:rPr sz="1500" b="1">
                          <a:solidFill>
                            <a:srgbClr val="FFFFFF"/>
                          </a:solidFill>
                        </a:rPr>
                        <a:t>Capability</a:t>
                      </a:r>
                    </a:p>
                  </a:txBody>
                  <a:tcPr marL="91440" marR="91440" marT="45720" marB="45720">
                    <a:solidFill>
                      <a:srgbClr val="1B2A5B"/>
                    </a:solidFill>
                  </a:tcPr>
                </a:tc>
                <a:tc>
                  <a:txBody>
                    <a:bodyPr/>
                    <a:lstStyle/>
                    <a:p>
                      <a:r>
                        <a:rPr sz="1500" b="1">
                          <a:solidFill>
                            <a:srgbClr val="FFFFFF"/>
                          </a:solidFill>
                        </a:rPr>
                        <a:t>AI (model)</a:t>
                      </a:r>
                    </a:p>
                  </a:txBody>
                  <a:tcPr marL="91440" marR="91440" marT="45720" marB="45720">
                    <a:solidFill>
                      <a:srgbClr val="1B2A5B"/>
                    </a:solidFill>
                  </a:tcPr>
                </a:tc>
                <a:tc>
                  <a:txBody>
                    <a:bodyPr/>
                    <a:lstStyle/>
                    <a:p>
                      <a:r>
                        <a:rPr sz="1500" b="1">
                          <a:solidFill>
                            <a:srgbClr val="FFFFFF"/>
                          </a:solidFill>
                        </a:rPr>
                        <a:t>Python (deterministic)</a:t>
                      </a:r>
                    </a:p>
                  </a:txBody>
                  <a:tcPr marL="91440" marR="91440" marT="45720" marB="45720">
                    <a:solidFill>
                      <a:srgbClr val="1B2A5B"/>
                    </a:solidFill>
                  </a:tcPr>
                </a:tc>
                <a:tc>
                  <a:txBody>
                    <a:bodyPr/>
                    <a:lstStyle/>
                    <a:p>
                      <a:r>
                        <a:rPr sz="1500" b="1">
                          <a:solidFill>
                            <a:srgbClr val="FFFFFF"/>
                          </a:solidFill>
                        </a:rPr>
                        <a:t>Human</a:t>
                      </a:r>
                    </a:p>
                  </a:txBody>
                  <a:tcPr marL="91440" marR="91440" marT="45720" marB="45720">
                    <a:solidFill>
                      <a:srgbClr val="1B2A5B"/>
                    </a:solidFill>
                  </a:tcPr>
                </a:tc>
              </a:tr>
              <a:tr h="566928">
                <a:tc>
                  <a:txBody>
                    <a:bodyPr/>
                    <a:lstStyle/>
                    <a:p>
                      <a:r>
                        <a:rPr sz="1500" b="0">
                          <a:solidFill>
                            <a:srgbClr val="1B2A5B"/>
                          </a:solidFill>
                        </a:rPr>
                        <a:t>Low-stock flagging</a:t>
                      </a:r>
                    </a:p>
                  </a:txBody>
                  <a:tcPr marL="91440" marR="91440" marT="45720" marB="45720">
                    <a:solidFill>
                      <a:srgbClr val="E8ECF5"/>
                    </a:solidFill>
                  </a:tcPr>
                </a:tc>
                <a:tc>
                  <a:txBody>
                    <a:bodyPr/>
                    <a:lstStyle/>
                    <a:p>
                      <a:r>
                        <a:rPr sz="1500" b="0">
                          <a:solidFill>
                            <a:srgbClr val="1B2A5B"/>
                          </a:solidFill>
                        </a:rPr>
                        <a:t>chooses the tool, explains</a:t>
                      </a:r>
                    </a:p>
                  </a:txBody>
                  <a:tcPr marL="91440" marR="91440" marT="45720" marB="45720">
                    <a:solidFill>
                      <a:srgbClr val="E8ECF5"/>
                    </a:solidFill>
                  </a:tcPr>
                </a:tc>
                <a:tc>
                  <a:txBody>
                    <a:bodyPr/>
                    <a:lstStyle/>
                    <a:p>
                      <a:r>
                        <a:rPr sz="1500" b="0">
                          <a:solidFill>
                            <a:srgbClr val="1B2A5B"/>
                          </a:solidFill>
                        </a:rPr>
                        <a:t>stock &lt;= reorder point</a:t>
                      </a:r>
                    </a:p>
                  </a:txBody>
                  <a:tcPr marL="91440" marR="91440" marT="45720" marB="45720">
                    <a:solidFill>
                      <a:srgbClr val="E8ECF5"/>
                    </a:solidFill>
                  </a:tcPr>
                </a:tc>
                <a:tc>
                  <a:txBody>
                    <a:bodyPr/>
                    <a:lstStyle/>
                    <a:p>
                      <a:r>
                        <a:rPr sz="1500" b="0">
                          <a:solidFill>
                            <a:srgbClr val="1B2A5B"/>
                          </a:solidFill>
                        </a:rPr>
                        <a:t>sets reorder points</a:t>
                      </a:r>
                    </a:p>
                  </a:txBody>
                  <a:tcPr marL="91440" marR="91440" marT="45720" marB="45720">
                    <a:solidFill>
                      <a:srgbClr val="E8ECF5"/>
                    </a:solidFill>
                  </a:tcPr>
                </a:tc>
              </a:tr>
              <a:tr h="566928">
                <a:tc>
                  <a:txBody>
                    <a:bodyPr/>
                    <a:lstStyle/>
                    <a:p>
                      <a:r>
                        <a:rPr sz="1500" b="0">
                          <a:solidFill>
                            <a:srgbClr val="1B2A5B"/>
                          </a:solidFill>
                        </a:rPr>
                        <a:t>Reorder quantity</a:t>
                      </a:r>
                    </a:p>
                  </a:txBody>
                  <a:tcPr marL="91440" marR="91440" marT="45720" marB="45720">
                    <a:solidFill>
                      <a:srgbClr val="FFFFFF"/>
                    </a:solidFill>
                  </a:tcPr>
                </a:tc>
                <a:tc>
                  <a:txBody>
                    <a:bodyPr/>
                    <a:lstStyle/>
                    <a:p>
                      <a:r>
                        <a:rPr sz="1500" b="0">
                          <a:solidFill>
                            <a:srgbClr val="1B2A5B"/>
                          </a:solidFill>
                        </a:rPr>
                        <a:t>explains the working</a:t>
                      </a:r>
                    </a:p>
                  </a:txBody>
                  <a:tcPr marL="91440" marR="91440" marT="45720" marB="45720">
                    <a:solidFill>
                      <a:srgbClr val="FFFFFF"/>
                    </a:solidFill>
                  </a:tcPr>
                </a:tc>
                <a:tc>
                  <a:txBody>
                    <a:bodyPr/>
                    <a:lstStyle/>
                    <a:p>
                      <a:r>
                        <a:rPr sz="1500" b="0">
                          <a:solidFill>
                            <a:srgbClr val="1B2A5B"/>
                          </a:solidFill>
                        </a:rPr>
                        <a:t>ceil(avg x 1.5) - stock, MOQ</a:t>
                      </a:r>
                    </a:p>
                  </a:txBody>
                  <a:tcPr marL="91440" marR="91440" marT="45720" marB="45720">
                    <a:solidFill>
                      <a:srgbClr val="FFFFFF"/>
                    </a:solidFill>
                  </a:tcPr>
                </a:tc>
                <a:tc>
                  <a:txBody>
                    <a:bodyPr/>
                    <a:lstStyle/>
                    <a:p>
                      <a:r>
                        <a:rPr sz="1500" b="0">
                          <a:solidFill>
                            <a:srgbClr val="1B2A5B"/>
                          </a:solidFill>
                        </a:rPr>
                        <a:t>sets qty when no history</a:t>
                      </a:r>
                    </a:p>
                  </a:txBody>
                  <a:tcPr marL="91440" marR="91440" marT="45720" marB="45720">
                    <a:solidFill>
                      <a:srgbClr val="FFFFFF"/>
                    </a:solidFill>
                  </a:tcPr>
                </a:tc>
              </a:tr>
              <a:tr h="566928">
                <a:tc>
                  <a:txBody>
                    <a:bodyPr/>
                    <a:lstStyle/>
                    <a:p>
                      <a:r>
                        <a:rPr sz="1500" b="0">
                          <a:solidFill>
                            <a:srgbClr val="1B2A5B"/>
                          </a:solidFill>
                        </a:rPr>
                        <a:t>Policy questions</a:t>
                      </a:r>
                    </a:p>
                  </a:txBody>
                  <a:tcPr marL="91440" marR="91440" marT="45720" marB="45720">
                    <a:solidFill>
                      <a:srgbClr val="E8ECF5"/>
                    </a:solidFill>
                  </a:tcPr>
                </a:tc>
                <a:tc>
                  <a:txBody>
                    <a:bodyPr/>
                    <a:lstStyle/>
                    <a:p>
                      <a:r>
                        <a:rPr sz="1500" b="0">
                          <a:solidFill>
                            <a:srgbClr val="1B2A5B"/>
                          </a:solidFill>
                        </a:rPr>
                        <a:t>answers only from retrieved text</a:t>
                      </a:r>
                    </a:p>
                  </a:txBody>
                  <a:tcPr marL="91440" marR="91440" marT="45720" marB="45720">
                    <a:solidFill>
                      <a:srgbClr val="E8ECF5"/>
                    </a:solidFill>
                  </a:tcPr>
                </a:tc>
                <a:tc>
                  <a:txBody>
                    <a:bodyPr/>
                    <a:lstStyle/>
                    <a:p>
                      <a:r>
                        <a:rPr sz="1500" b="0">
                          <a:solidFill>
                            <a:srgbClr val="1B2A5B"/>
                          </a:solidFill>
                        </a:rPr>
                        <a:t>BM25 retrieval, citation check</a:t>
                      </a:r>
                    </a:p>
                  </a:txBody>
                  <a:tcPr marL="91440" marR="91440" marT="45720" marB="45720">
                    <a:solidFill>
                      <a:srgbClr val="E8ECF5"/>
                    </a:solidFill>
                  </a:tcPr>
                </a:tc>
                <a:tc>
                  <a:txBody>
                    <a:bodyPr/>
                    <a:lstStyle/>
                    <a:p>
                      <a:r>
                        <a:rPr sz="1500" b="0">
                          <a:solidFill>
                            <a:srgbClr val="1B2A5B"/>
                          </a:solidFill>
                        </a:rPr>
                        <a:t>maintains documents</a:t>
                      </a:r>
                    </a:p>
                  </a:txBody>
                  <a:tcPr marL="91440" marR="91440" marT="45720" marB="45720">
                    <a:solidFill>
                      <a:srgbClr val="E8ECF5"/>
                    </a:solidFill>
                  </a:tcPr>
                </a:tc>
              </a:tr>
              <a:tr h="566928">
                <a:tc>
                  <a:txBody>
                    <a:bodyPr/>
                    <a:lstStyle/>
                    <a:p>
                      <a:r>
                        <a:rPr sz="1500" b="0">
                          <a:solidFill>
                            <a:srgbClr val="1B2A5B"/>
                          </a:solidFill>
                        </a:rPr>
                        <a:t>Draft requisition</a:t>
                      </a:r>
                    </a:p>
                  </a:txBody>
                  <a:tcPr marL="91440" marR="91440" marT="45720" marB="45720">
                    <a:solidFill>
                      <a:srgbClr val="FFFFFF"/>
                    </a:solidFill>
                  </a:tcPr>
                </a:tc>
                <a:tc>
                  <a:txBody>
                    <a:bodyPr/>
                    <a:lstStyle/>
                    <a:p>
                      <a:r>
                        <a:rPr sz="1500" b="0">
                          <a:solidFill>
                            <a:srgbClr val="1B2A5B"/>
                          </a:solidFill>
                        </a:rPr>
                        <a:t>decides which items</a:t>
                      </a:r>
                    </a:p>
                  </a:txBody>
                  <a:tcPr marL="91440" marR="91440" marT="45720" marB="45720">
                    <a:solidFill>
                      <a:srgbClr val="FFFFFF"/>
                    </a:solidFill>
                  </a:tcPr>
                </a:tc>
                <a:tc>
                  <a:txBody>
                    <a:bodyPr/>
                    <a:lstStyle/>
                    <a:p>
                      <a:r>
                        <a:rPr sz="1500" b="0">
                          <a:solidFill>
                            <a:srgbClr val="1B2A5B"/>
                          </a:solidFill>
                        </a:rPr>
                        <a:t>lines, totals, +/-10% band</a:t>
                      </a:r>
                    </a:p>
                  </a:txBody>
                  <a:tcPr marL="91440" marR="91440" marT="45720" marB="45720">
                    <a:solidFill>
                      <a:srgbClr val="FFFFFF"/>
                    </a:solidFill>
                  </a:tcPr>
                </a:tc>
                <a:tc>
                  <a:txBody>
                    <a:bodyPr/>
                    <a:lstStyle/>
                    <a:p>
                      <a:r>
                        <a:rPr sz="1500" b="0">
                          <a:solidFill>
                            <a:srgbClr val="1B2A5B"/>
                          </a:solidFill>
                        </a:rPr>
                        <a:t>-</a:t>
                      </a:r>
                    </a:p>
                  </a:txBody>
                  <a:tcPr marL="91440" marR="91440" marT="45720" marB="45720">
                    <a:solidFill>
                      <a:srgbClr val="FFFFFF"/>
                    </a:solidFill>
                  </a:tcPr>
                </a:tc>
              </a:tr>
              <a:tr h="566928">
                <a:tc>
                  <a:txBody>
                    <a:bodyPr/>
                    <a:lstStyle/>
                    <a:p>
                      <a:r>
                        <a:rPr sz="1500" b="0">
                          <a:solidFill>
                            <a:srgbClr val="1B2A5B"/>
                          </a:solidFill>
                        </a:rPr>
                        <a:t>APPROVAL</a:t>
                      </a:r>
                    </a:p>
                  </a:txBody>
                  <a:tcPr marL="91440" marR="91440" marT="45720" marB="45720">
                    <a:solidFill>
                      <a:srgbClr val="E8ECF5"/>
                    </a:solidFill>
                  </a:tcPr>
                </a:tc>
                <a:tc>
                  <a:txBody>
                    <a:bodyPr/>
                    <a:lstStyle/>
                    <a:p>
                      <a:r>
                        <a:rPr sz="1500" b="0">
                          <a:solidFill>
                            <a:srgbClr val="1B2A5B"/>
                          </a:solidFill>
                        </a:rPr>
                        <a:t>NEVER (no such tool)</a:t>
                      </a:r>
                    </a:p>
                  </a:txBody>
                  <a:tcPr marL="91440" marR="91440" marT="45720" marB="45720">
                    <a:solidFill>
                      <a:srgbClr val="E8ECF5"/>
                    </a:solidFill>
                  </a:tcPr>
                </a:tc>
                <a:tc>
                  <a:txBody>
                    <a:bodyPr/>
                    <a:lstStyle/>
                    <a:p>
                      <a:r>
                        <a:rPr sz="1500" b="0">
                          <a:solidFill>
                            <a:srgbClr val="1B2A5B"/>
                          </a:solidFill>
                        </a:rPr>
                        <a:t>typed confirmation, audit log</a:t>
                      </a:r>
                    </a:p>
                  </a:txBody>
                  <a:tcPr marL="91440" marR="91440" marT="45720" marB="45720">
                    <a:solidFill>
                      <a:srgbClr val="E8ECF5"/>
                    </a:solidFill>
                  </a:tcPr>
                </a:tc>
                <a:tc>
                  <a:txBody>
                    <a:bodyPr/>
                    <a:lstStyle/>
                    <a:p>
                      <a:r>
                        <a:rPr sz="1500" b="0">
                          <a:solidFill>
                            <a:srgbClr val="1B2A5B"/>
                          </a:solidFill>
                        </a:rPr>
                        <a:t>APPROVES / REJECTS</a:t>
                      </a:r>
                    </a:p>
                  </a:txBody>
                  <a:tcPr marL="91440" marR="91440" marT="45720" marB="45720">
                    <a:solidFill>
                      <a:srgbClr val="E8ECF5"/>
                    </a:solidFill>
                  </a:tcPr>
                </a:tc>
              </a:tr>
              <a:tr h="566928">
                <a:tc>
                  <a:txBody>
                    <a:bodyPr/>
                    <a:lstStyle/>
                    <a:p>
                      <a:r>
                        <a:rPr sz="1500" b="0">
                          <a:solidFill>
                            <a:srgbClr val="1B2A5B"/>
                          </a:solidFill>
                        </a:rPr>
                        <a:t>ORDERING / PAYMENT</a:t>
                      </a:r>
                    </a:p>
                  </a:txBody>
                  <a:tcPr marL="91440" marR="91440" marT="45720" marB="45720">
                    <a:solidFill>
                      <a:srgbClr val="FFFFFF"/>
                    </a:solidFill>
                  </a:tcPr>
                </a:tc>
                <a:tc>
                  <a:txBody>
                    <a:bodyPr/>
                    <a:lstStyle/>
                    <a:p>
                      <a:r>
                        <a:rPr sz="1500" b="0">
                          <a:solidFill>
                            <a:srgbClr val="1B2A5B"/>
                          </a:solidFill>
                        </a:rPr>
                        <a:t>NEVER (no such tool)</a:t>
                      </a:r>
                    </a:p>
                  </a:txBody>
                  <a:tcPr marL="91440" marR="91440" marT="45720" marB="45720">
                    <a:solidFill>
                      <a:srgbClr val="FFFFFF"/>
                    </a:solidFill>
                  </a:tcPr>
                </a:tc>
                <a:tc>
                  <a:txBody>
                    <a:bodyPr/>
                    <a:lstStyle/>
                    <a:p>
                      <a:r>
                        <a:rPr sz="1500" b="0">
                          <a:solidFill>
                            <a:srgbClr val="1B2A5B"/>
                          </a:solidFill>
                        </a:rPr>
                        <a:t>no integration exists</a:t>
                      </a:r>
                    </a:p>
                  </a:txBody>
                  <a:tcPr marL="91440" marR="91440" marT="45720" marB="45720">
                    <a:solidFill>
                      <a:srgbClr val="FFFFFF"/>
                    </a:solidFill>
                  </a:tcPr>
                </a:tc>
                <a:tc>
                  <a:txBody>
                    <a:bodyPr/>
                    <a:lstStyle/>
                    <a:p>
                      <a:r>
                        <a:rPr sz="1500" b="0">
                          <a:solidFill>
                            <a:srgbClr val="1B2A5B"/>
                          </a:solidFill>
                        </a:rPr>
                        <a:t>orders and pays offline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5126919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A9A9F7B-5B84-4ED3-8932-4BFF7D889254}"/>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EDC80909-6E23-4DC4-9D7B-D55E2DBF30C1}"/>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AB5E159-7F6A-43D8-B50D-6FA0F2742819}"/>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Architecture: an AI shell around a deterministic core</a:t>
            </a:r>
          </a:p>
        </p:txBody>
      </p:sp>
      <p:sp>
        <p:nvSpPr>
          <p:cNvPr id="5" name="TextBox 4">
            <a:extLst xmlns:a="http://schemas.openxmlformats.org/drawingml/2006/main">
              <a:ext uri="{FF2B5EF4-FFF2-40B4-BE49-F238E27FC236}">
                <a16:creationId xmlns:a16="http://schemas.microsoft.com/office/drawing/2014/main" id="{05D31B20-74FB-4E49-A21E-42588E906D72}"/>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ARCHITECTURE</a:t>
            </a:r>
          </a:p>
        </p:txBody>
      </p:sp>
      <p:sp>
        <p:nvSpPr>
          <p:cNvPr id="7" name="TextBox 6">
            <a:extLst xmlns:a="http://schemas.openxmlformats.org/drawingml/2006/main">
              <a:ext uri="{FF2B5EF4-FFF2-40B4-BE49-F238E27FC236}">
                <a16:creationId xmlns:a16="http://schemas.microsoft.com/office/drawing/2014/main" id="{2F5F7C65-6EEC-477C-8CAC-C4D0E4C6395B}"/>
              </a:ext>
            </a:extLst>
          </p:cNvPr>
          <p:cNvSpPr>
            <a:spLocks xmlns:a="http://schemas.openxmlformats.org/drawingml/2006/main" noGrp="1"/>
          </p:cNvSpPr>
          <p:nvPr/>
        </p:nvSpPr>
        <p:spPr>
          <a:xfrm xmlns:a="http://schemas.openxmlformats.org/drawingml/2006/main">
            <a:off x="7680960" y="1463040"/>
            <a:ext cx="4114800" cy="2118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1800" b="0">
                <a:solidFill>
                  <a:srgbClr val="1B2A5B"/>
                </a:solidFill>
              </a:rPr>
              <a:t>• UI: console + Streamlit</a:t>
            </a:r>
          </a:p>
          <a:p xmlns:a="http://schemas.openxmlformats.org/drawingml/2006/main">
            <a:pPr>
              <a:spcAft>
                <a:spcPts val="600"/>
              </a:spcAft>
              <a:buNone/>
            </a:pPr>
            <a:r>
              <a:rPr sz="1800" b="0">
                <a:solidFill>
                  <a:srgbClr val="1B2A5B"/>
                </a:solidFill>
              </a:rPr>
              <a:t>• Agents: tool_agent, restock_agent</a:t>
            </a:r>
          </a:p>
          <a:p xmlns:a="http://schemas.openxmlformats.org/drawingml/2006/main">
            <a:pPr>
              <a:spcAft>
                <a:spcPts val="600"/>
              </a:spcAft>
              <a:buNone/>
            </a:pPr>
            <a:r>
              <a:rPr sz="1800" b="0">
                <a:solidFill>
                  <a:srgbClr val="1B2A5B"/>
                </a:solidFill>
              </a:rPr>
              <a:t>• Gate: registry allow-list</a:t>
            </a:r>
          </a:p>
          <a:p xmlns:a="http://schemas.openxmlformats.org/drawingml/2006/main">
            <a:pPr>
              <a:spcAft>
                <a:spcPts val="600"/>
              </a:spcAft>
              <a:buNone/>
            </a:pPr>
            <a:r>
              <a:rPr sz="1800" b="0">
                <a:solidFill>
                  <a:srgbClr val="1B2A5B"/>
                </a:solidFill>
              </a:rPr>
              <a:t>• Tools: 8, all Python</a:t>
            </a:r>
          </a:p>
          <a:p xmlns:a="http://schemas.openxmlformats.org/drawingml/2006/main">
            <a:pPr>
              <a:spcAft>
                <a:spcPts val="600"/>
              </a:spcAft>
              <a:buNone/>
            </a:pPr>
            <a:r>
              <a:rPr sz="1800" b="0">
                <a:solidFill>
                  <a:srgbClr val="1B2A5B"/>
                </a:solidFill>
              </a:rPr>
              <a:t>• State: scoped SQLite drafts, audit, FSM</a:t>
            </a:r>
          </a:p>
          <a:p xmlns:a="http://schemas.openxmlformats.org/drawingml/2006/main">
            <a:pPr>
              <a:spcAft>
                <a:spcPts val="600"/>
              </a:spcAft>
              <a:buNone/>
            </a:pPr>
            <a:r>
              <a:rPr sz="1800" b="0">
                <a:solidFill>
                  <a:srgbClr val="1B2A5B"/>
                </a:solidFill>
              </a:rPr>
              <a:t>• Model: Gemini Flash + fallback chain</a:t>
            </a:r>
          </a:p>
        </p:txBody>
      </p:sp>
      <p:pic>
        <p:nvPicPr>
          <p:cNvPr id="8" name="">
            <a:extLst xmlns:a="http://schemas.openxmlformats.org/drawingml/2006/main">
              <a:ext uri="{FF2B5EF4-FFF2-40B4-BE49-F238E27FC236}">
                <a16:creationId xmlns:a16="http://schemas.microsoft.com/office/drawing/2014/main" id="{322BB05C-0467-44C5-B97A-D65C9D4F9F97}"/>
              </a:ext>
            </a:extLst>
          </p:cNvPr>
          <p:cNvPicPr>
            <a:picLocks xmlns:a="http://schemas.openxmlformats.org/drawingml/2006/main" noChangeAspect="1"/>
          </p:cNvPicPr>
          <p:nvPr/>
        </p:nvPicPr>
        <p:blipFill>
          <a:blip xmlns:r="http://schemas.openxmlformats.org/officeDocument/2006/relationships" xmlns:a="http://schemas.openxmlformats.org/drawingml/2006/main" r:embed="Re77878eab65543ef"/>
          <a:stretch xmlns:a="http://schemas.openxmlformats.org/drawingml/2006/main"/>
        </p:blipFill>
        <p:spPr>
          <a:xfrm xmlns:a="http://schemas.openxmlformats.org/drawingml/2006/main">
            <a:off x="457200" y="1371600"/>
            <a:ext cx="6949440" cy="5120640"/>
          </a:xfrm>
          <a:prstGeom xmlns:a="http://schemas.openxmlformats.org/drawingml/2006/main" prst="rect">
            <a:avLst/>
          </a:prstGeom>
        </p:spPr>
      </p:pic>
    </p:spTree>
    <p:extLst>
      <p:ext uri="{BB962C8B-B14F-4D97-AF65-F5344CB8AC3E}">
        <p14:creationId xmlns:p14="http://schemas.microsoft.com/office/powerpoint/2010/main" val="11479090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833CC24-A682-4DC7-8B67-E9C068CFA47F}"/>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2AED2E5-B388-49E3-950F-BA07F383136F}"/>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AD9A75F-F44E-4D41-AEC1-7535C3BD803D}"/>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Model and prompt engineering</a:t>
            </a:r>
          </a:p>
        </p:txBody>
      </p:sp>
      <p:sp>
        <p:nvSpPr>
          <p:cNvPr id="5" name="TextBox 4">
            <a:extLst xmlns:a="http://schemas.openxmlformats.org/drawingml/2006/main">
              <a:ext uri="{FF2B5EF4-FFF2-40B4-BE49-F238E27FC236}">
                <a16:creationId xmlns:a16="http://schemas.microsoft.com/office/drawing/2014/main" id="{67D7F604-6F66-44A8-90C2-D7BDF68994AC}"/>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WEEK 2</a:t>
            </a:r>
          </a:p>
        </p:txBody>
      </p:sp>
      <p:graphicFrame>
        <p:nvGraphicFramePr>
          <p:cNvPr id="6" name="Table 5">
            <a:extLst xmlns:a="http://schemas.openxmlformats.org/drawingml/2006/main">
              <a:ext uri="{FF2B5EF4-FFF2-40B4-BE49-F238E27FC236}">
                <a16:creationId xmlns:a16="http://schemas.microsoft.com/office/drawing/2014/main" id="{2C1C2EA5-1403-46BB-A73E-A2EB89574906}"/>
              </a:ext>
            </a:extLst>
          </p:cNvPr>
          <p:cNvGraphicFramePr/>
          <p:nvPr/>
        </p:nvGraphicFramePr>
        <p:xfrm>
          <a:off xmlns:a="http://schemas.openxmlformats.org/drawingml/2006/main" x="457200" y="1417320"/>
          <a:ext xmlns:a="http://schemas.openxmlformats.org/drawingml/2006/main" cx="11247120" cy="3017520"/>
        </p:xfrm>
        <a:graphic xmlns:a="http://schemas.openxmlformats.org/drawingml/2006/main">
          <a:graphicData uri="http://schemas.openxmlformats.org/drawingml/2006/table">
            <a:tbl>
              <a:tblPr firstRow="1" bandRow="1">
                <a:tableStyleId>{5C22544A-7EE6-4342-B048-85BDC9FD1C3A}</a:tableStyleId>
              </a:tblPr>
              <a:tblGrid>
                <a:gridCol w="1463040"/>
                <a:gridCol w="6400800"/>
                <a:gridCol w="3383280"/>
              </a:tblGrid>
              <a:tr h="502920">
                <a:tc>
                  <a:txBody>
                    <a:bodyPr/>
                    <a:lstStyle/>
                    <a:p>
                      <a:r>
                        <a:rPr sz="1600" b="1">
                          <a:solidFill>
                            <a:srgbClr val="FFFFFF"/>
                          </a:solidFill>
                        </a:rPr>
                        <a:t>Version</a:t>
                      </a:r>
                    </a:p>
                  </a:txBody>
                  <a:tcPr marL="91440" marR="91440" marT="45720" marB="45720">
                    <a:solidFill>
                      <a:srgbClr val="1B2A5B"/>
                    </a:solidFill>
                  </a:tcPr>
                </a:tc>
                <a:tc>
                  <a:txBody>
                    <a:bodyPr/>
                    <a:lstStyle/>
                    <a:p>
                      <a:r>
                        <a:rPr sz="1600" b="1">
                          <a:solidFill>
                            <a:srgbClr val="FFFFFF"/>
                          </a:solidFill>
                        </a:rPr>
                        <a:t>Change</a:t>
                      </a:r>
                    </a:p>
                  </a:txBody>
                  <a:tcPr marL="91440" marR="91440" marT="45720" marB="45720">
                    <a:solidFill>
                      <a:srgbClr val="1B2A5B"/>
                    </a:solidFill>
                  </a:tcPr>
                </a:tc>
                <a:tc>
                  <a:txBody>
                    <a:bodyPr/>
                    <a:lstStyle/>
                    <a:p>
                      <a:r>
                        <a:rPr sz="1600" b="1">
                          <a:solidFill>
                            <a:srgbClr val="FFFFFF"/>
                          </a:solidFill>
                        </a:rPr>
                        <a:t>Result</a:t>
                      </a:r>
                    </a:p>
                  </a:txBody>
                  <a:tcPr marL="91440" marR="91440" marT="45720" marB="45720">
                    <a:solidFill>
                      <a:srgbClr val="1B2A5B"/>
                    </a:solidFill>
                  </a:tcPr>
                </a:tc>
              </a:tr>
              <a:tr h="502920">
                <a:tc>
                  <a:txBody>
                    <a:bodyPr/>
                    <a:lstStyle/>
                    <a:p>
                      <a:r>
                        <a:rPr sz="1600" b="0">
                          <a:solidFill>
                            <a:srgbClr val="1B2A5B"/>
                          </a:solidFill>
                        </a:rPr>
                        <a:t>1.1.0</a:t>
                      </a:r>
                    </a:p>
                  </a:txBody>
                  <a:tcPr marL="91440" marR="91440" marT="45720" marB="45720">
                    <a:solidFill>
                      <a:srgbClr val="E8ECF5"/>
                    </a:solidFill>
                  </a:tcPr>
                </a:tc>
                <a:tc>
                  <a:txBody>
                    <a:bodyPr/>
                    <a:lstStyle/>
                    <a:p>
                      <a:r>
                        <a:rPr sz="1600" b="0">
                          <a:solidFill>
                            <a:srgbClr val="1B2A5B"/>
                          </a:solidFill>
                        </a:rPr>
                        <a:t>first working prompt</a:t>
                      </a:r>
                    </a:p>
                  </a:txBody>
                  <a:tcPr marL="91440" marR="91440" marT="45720" marB="45720">
                    <a:solidFill>
                      <a:srgbClr val="E8ECF5"/>
                    </a:solidFill>
                  </a:tcPr>
                </a:tc>
                <a:tc>
                  <a:txBody>
                    <a:bodyPr/>
                    <a:lstStyle/>
                    <a:p>
                      <a:r>
                        <a:rPr sz="1600" b="0">
                          <a:solidFill>
                            <a:srgbClr val="1B2A5B"/>
                          </a:solidFill>
                        </a:rPr>
                        <a:t>7/10 tests</a:t>
                      </a:r>
                    </a:p>
                  </a:txBody>
                  <a:tcPr marL="91440" marR="91440" marT="45720" marB="45720">
                    <a:solidFill>
                      <a:srgbClr val="E8ECF5"/>
                    </a:solidFill>
                  </a:tcPr>
                </a:tc>
              </a:tr>
              <a:tr h="502920">
                <a:tc>
                  <a:txBody>
                    <a:bodyPr/>
                    <a:lstStyle/>
                    <a:p>
                      <a:r>
                        <a:rPr sz="1600" b="0">
                          <a:solidFill>
                            <a:srgbClr val="1B2A5B"/>
                          </a:solidFill>
                        </a:rPr>
                        <a:t>1.2.0</a:t>
                      </a:r>
                    </a:p>
                  </a:txBody>
                  <a:tcPr marL="91440" marR="91440" marT="45720" marB="45720">
                    <a:solidFill>
                      <a:srgbClr val="FFFFFF"/>
                    </a:solidFill>
                  </a:tcPr>
                </a:tc>
                <a:tc>
                  <a:txBody>
                    <a:bodyPr/>
                    <a:lstStyle/>
                    <a:p>
                      <a:r>
                        <a:rPr sz="1600" b="0">
                          <a:solidFill>
                            <a:srgbClr val="1B2A5B"/>
                          </a:solidFill>
                        </a:rPr>
                        <a:t>only named, low items; formulas in code spans</a:t>
                      </a:r>
                    </a:p>
                  </a:txBody>
                  <a:tcPr marL="91440" marR="91440" marT="45720" marB="45720">
                    <a:solidFill>
                      <a:srgbClr val="FFFFFF"/>
                    </a:solidFill>
                  </a:tcPr>
                </a:tc>
                <a:tc>
                  <a:txBody>
                    <a:bodyPr/>
                    <a:lstStyle/>
                    <a:p>
                      <a:r>
                        <a:rPr sz="1600" b="0">
                          <a:solidFill>
                            <a:srgbClr val="1B2A5B"/>
                          </a:solidFill>
                        </a:rPr>
                        <a:t>9/10 (checker tightened)</a:t>
                      </a:r>
                    </a:p>
                  </a:txBody>
                  <a:tcPr marL="91440" marR="91440" marT="45720" marB="45720">
                    <a:solidFill>
                      <a:srgbClr val="FFFFFF"/>
                    </a:solidFill>
                  </a:tcPr>
                </a:tc>
              </a:tr>
              <a:tr h="502920">
                <a:tc>
                  <a:txBody>
                    <a:bodyPr/>
                    <a:lstStyle/>
                    <a:p>
                      <a:r>
                        <a:rPr sz="1600" b="0">
                          <a:solidFill>
                            <a:srgbClr val="1B2A5B"/>
                          </a:solidFill>
                        </a:rPr>
                        <a:t>2.0.0</a:t>
                      </a:r>
                    </a:p>
                  </a:txBody>
                  <a:tcPr marL="91440" marR="91440" marT="45720" marB="45720">
                    <a:solidFill>
                      <a:srgbClr val="E8ECF5"/>
                    </a:solidFill>
                  </a:tcPr>
                </a:tc>
                <a:tc>
                  <a:txBody>
                    <a:bodyPr/>
                    <a:lstStyle/>
                    <a:p>
                      <a:r>
                        <a:rPr sz="1600" b="0">
                          <a:solidFill>
                            <a:srgbClr val="1B2A5B"/>
                          </a:solidFill>
                        </a:rPr>
                        <a:t>maths moved OUT of the prompt into tools (F-04)</a:t>
                      </a:r>
                    </a:p>
                  </a:txBody>
                  <a:tcPr marL="91440" marR="91440" marT="45720" marB="45720">
                    <a:solidFill>
                      <a:srgbClr val="E8ECF5"/>
                    </a:solidFill>
                  </a:tcPr>
                </a:tc>
                <a:tc>
                  <a:txBody>
                    <a:bodyPr/>
                    <a:lstStyle/>
                    <a:p>
                      <a:r>
                        <a:rPr sz="1600" b="0">
                          <a:solidFill>
                            <a:srgbClr val="1B2A5B"/>
                          </a:solidFill>
                        </a:rPr>
                        <a:t>live agent 6/6</a:t>
                      </a:r>
                    </a:p>
                  </a:txBody>
                  <a:tcPr marL="91440" marR="91440" marT="45720" marB="45720">
                    <a:solidFill>
                      <a:srgbClr val="E8ECF5"/>
                    </a:solidFill>
                  </a:tcPr>
                </a:tc>
              </a:tr>
              <a:tr h="502920">
                <a:tc>
                  <a:txBody>
                    <a:bodyPr/>
                    <a:lstStyle/>
                    <a:p>
                      <a:r>
                        <a:rPr sz="1600" b="0">
                          <a:solidFill>
                            <a:srgbClr val="1B2A5B"/>
                          </a:solidFill>
                        </a:rPr>
                        <a:t>2.2.0</a:t>
                      </a:r>
                    </a:p>
                  </a:txBody>
                  <a:tcPr marL="91440" marR="91440" marT="45720" marB="45720">
                    <a:solidFill>
                      <a:srgbClr val="FFFFFF"/>
                    </a:solidFill>
                  </a:tcPr>
                </a:tc>
                <a:tc>
                  <a:txBody>
                    <a:bodyPr/>
                    <a:lstStyle/>
                    <a:p>
                      <a:r>
                        <a:rPr sz="1600" b="0">
                          <a:solidFill>
                            <a:srgbClr val="1B2A5B"/>
                          </a:solidFill>
                        </a:rPr>
                        <a:t>no draft claim without a real draft (F-13)</a:t>
                      </a:r>
                    </a:p>
                  </a:txBody>
                  <a:tcPr marL="91440" marR="91440" marT="45720" marB="45720">
                    <a:solidFill>
                      <a:srgbClr val="FFFFFF"/>
                    </a:solidFill>
                  </a:tcPr>
                </a:tc>
                <a:tc>
                  <a:txBody>
                    <a:bodyPr/>
                    <a:lstStyle/>
                    <a:p>
                      <a:r>
                        <a:rPr sz="1600" b="0">
                          <a:solidFill>
                            <a:srgbClr val="1B2A5B"/>
                          </a:solidFill>
                        </a:rPr>
                        <a:t>regression 6/6</a:t>
                      </a:r>
                    </a:p>
                  </a:txBody>
                  <a:tcPr marL="91440" marR="91440" marT="45720" marB="45720">
                    <a:solidFill>
                      <a:srgbClr val="FFFFFF"/>
                    </a:solidFill>
                  </a:tcPr>
                </a:tc>
              </a:tr>
              <a:tr h="502920">
                <a:tc>
                  <a:txBody>
                    <a:bodyPr/>
                    <a:lstStyle/>
                    <a:p>
                      <a:r>
                        <a:rPr sz="1600" b="0">
                          <a:solidFill>
                            <a:srgbClr val="1B2A5B"/>
                          </a:solidFill>
                        </a:rPr>
                        <a:t>2.5.0</a:t>
                      </a:r>
                    </a:p>
                  </a:txBody>
                  <a:tcPr marL="91440" marR="91440" marT="45720" marB="45720">
                    <a:solidFill>
                      <a:srgbClr val="E8ECF5"/>
                    </a:solidFill>
                  </a:tcPr>
                </a:tc>
                <a:tc>
                  <a:txBody>
                    <a:bodyPr/>
                    <a:lstStyle/>
                    <a:p>
                      <a:r>
                        <a:rPr sz="1600" b="0">
                          <a:solidFill>
                            <a:srgbClr val="1B2A5B"/>
                          </a:solidFill>
                        </a:rPr>
                        <a:t>user roles removed (decision-001)</a:t>
                      </a:r>
                    </a:p>
                  </a:txBody>
                  <a:tcPr marL="91440" marR="91440" marT="45720" marB="45720">
                    <a:solidFill>
                      <a:srgbClr val="E8ECF5"/>
                    </a:solidFill>
                  </a:tcPr>
                </a:tc>
                <a:tc>
                  <a:txBody>
                    <a:bodyPr/>
                    <a:lstStyle/>
                    <a:p>
                      <a:r>
                        <a:rPr sz="1600" b="0">
                          <a:solidFill>
                            <a:srgbClr val="1B2A5B"/>
                          </a:solidFill>
                        </a:rPr>
                        <a:t>current prompt</a:t>
                      </a:r>
                    </a:p>
                  </a:txBody>
                  <a:tcPr marL="91440" marR="91440" marT="45720" marB="45720">
                    <a:solidFill>
                      <a:srgbClr val="E8ECF5"/>
                    </a:solidFill>
                  </a:tcPr>
                </a:tc>
              </a:tr>
            </a:tbl>
          </a:graphicData>
        </a:graphic>
      </p:graphicFrame>
      <p:sp>
        <p:nvSpPr>
          <p:cNvPr id="7" name="TextBox 6">
            <a:extLst xmlns:a="http://schemas.openxmlformats.org/drawingml/2006/main">
              <a:ext uri="{FF2B5EF4-FFF2-40B4-BE49-F238E27FC236}">
                <a16:creationId xmlns:a16="http://schemas.microsoft.com/office/drawing/2014/main" id="{7434B1FB-2761-4D6E-891A-464026BD0D63}"/>
              </a:ext>
            </a:extLst>
          </p:cNvPr>
          <p:cNvSpPr>
            <a:spLocks xmlns:a="http://schemas.openxmlformats.org/drawingml/2006/main" noGrp="1"/>
          </p:cNvSpPr>
          <p:nvPr/>
        </p:nvSpPr>
        <p:spPr>
          <a:xfrm xmlns:a="http://schemas.openxmlformats.org/drawingml/2006/main">
            <a:off x="548640" y="4754880"/>
            <a:ext cx="11064240"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1900" b="0">
                <a:solidFill>
                  <a:srgbClr val="1B2A5B"/>
                </a:solidFill>
              </a:rPr>
              <a:t>• F-04: the model wrote Erasers 70 (correct 63) and Staplers 114 (correct 88): no wording fixes arithmetic</a:t>
            </a:r>
          </a:p>
        </p:txBody>
      </p:sp>
    </p:spTree>
    <p:extLst>
      <p:ext uri="{BB962C8B-B14F-4D97-AF65-F5344CB8AC3E}">
        <p14:creationId xmlns:p14="http://schemas.microsoft.com/office/powerpoint/2010/main" val="14866329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6D24B0-F8C3-4373-9C80-62A4CEDD80BA}"/>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E2332648-821B-4AB6-9643-CBAE690F83B6}"/>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A941E22E-9268-4724-B866-AF0B4BF9DD09}"/>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RAG: answers from the shop's own policies</a:t>
            </a:r>
          </a:p>
        </p:txBody>
      </p:sp>
      <p:sp>
        <p:nvSpPr>
          <p:cNvPr id="5" name="TextBox 4">
            <a:extLst xmlns:a="http://schemas.openxmlformats.org/drawingml/2006/main">
              <a:ext uri="{FF2B5EF4-FFF2-40B4-BE49-F238E27FC236}">
                <a16:creationId xmlns:a16="http://schemas.microsoft.com/office/drawing/2014/main" id="{FA35D6D9-0BAD-49BA-940A-80E4A9EA876E}"/>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WEEK 3</a:t>
            </a:r>
          </a:p>
        </p:txBody>
      </p:sp>
      <p:sp>
        <p:nvSpPr>
          <p:cNvPr id="7" name="TextBox 6">
            <a:extLst xmlns:a="http://schemas.openxmlformats.org/drawingml/2006/main">
              <a:ext uri="{FF2B5EF4-FFF2-40B4-BE49-F238E27FC236}">
                <a16:creationId xmlns:a16="http://schemas.microsoft.com/office/drawing/2014/main" id="{89F05041-68DD-442E-B046-57F491FEC026}"/>
              </a:ext>
            </a:extLst>
          </p:cNvPr>
          <p:cNvSpPr>
            <a:spLocks xmlns:a="http://schemas.openxmlformats.org/drawingml/2006/main" noGrp="1"/>
          </p:cNvSpPr>
          <p:nvPr/>
        </p:nvSpPr>
        <p:spPr>
          <a:xfrm xmlns:a="http://schemas.openxmlformats.org/drawingml/2006/main">
            <a:off x="6766560" y="1463040"/>
            <a:ext cx="5029200" cy="4937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000" b="0">
                <a:solidFill>
                  <a:srgbClr val="1B2A5B"/>
                </a:solidFill>
              </a:rPr>
              <a:t>• 12 documents, BM25 retrieval</a:t>
            </a:r>
          </a:p>
          <a:p xmlns:a="http://schemas.openxmlformats.org/drawingml/2006/main">
            <a:pPr>
              <a:spcAft>
                <a:spcPts val="600"/>
              </a:spcAft>
              <a:buNone/>
            </a:pPr>
            <a:r>
              <a:rPr sz="2000" b="0">
                <a:solidFill>
                  <a:srgbClr val="1B2A5B"/>
                </a:solidFill>
              </a:rPr>
              <a:t>• Citations checked in code</a:t>
            </a:r>
          </a:p>
          <a:p xmlns:a="http://schemas.openxmlformats.org/drawingml/2006/main">
            <a:pPr>
              <a:spcAft>
                <a:spcPts val="600"/>
              </a:spcAft>
              <a:buNone/>
            </a:pPr>
            <a:r>
              <a:rPr sz="2000" b="0">
                <a:solidFill>
                  <a:srgbClr val="1B2A5B"/>
                </a:solidFill>
              </a:rPr>
              <a:t>• No-answer handling</a:t>
            </a:r>
          </a:p>
          <a:p xmlns:a="http://schemas.openxmlformats.org/drawingml/2006/main">
            <a:pPr>
              <a:spcAft>
                <a:spcPts val="600"/>
              </a:spcAft>
              <a:buNone/>
            </a:pPr>
            <a:r>
              <a:rPr sz="2000" b="0">
                <a:solidFill>
                  <a:srgbClr val="1B2A5B"/>
                </a:solidFill>
              </a:rPr>
              <a:t>• hit@3 10/10, MRR 0.88</a:t>
            </a:r>
          </a:p>
          <a:p xmlns:a="http://schemas.openxmlformats.org/drawingml/2006/main">
            <a:pPr>
              <a:spcAft>
                <a:spcPts val="600"/>
              </a:spcAft>
              <a:buNone/>
            </a:pPr>
            <a:r>
              <a:rPr sz="2000" b="0">
                <a:solidFill>
                  <a:srgbClr val="1B2A5B"/>
                </a:solidFill>
              </a:rPr>
              <a:t>• 15/15 grounded answers (live)</a:t>
            </a:r>
          </a:p>
          <a:p xmlns:a="http://schemas.openxmlformats.org/drawingml/2006/main">
            <a:pPr>
              <a:spcAft>
                <a:spcPts val="600"/>
              </a:spcAft>
              <a:buNone/>
            </a:pPr>
            <a:r>
              <a:rPr sz="2000" b="0">
                <a:solidFill>
                  <a:srgbClr val="1B2A5B"/>
                </a:solidFill>
              </a:rPr>
              <a:t>• R-4 open: numeric thresholds</a:t>
            </a:r>
          </a:p>
        </p:txBody>
      </p:sp>
      <p:pic>
        <p:nvPicPr>
          <p:cNvPr id="8" name="">
            <a:extLst xmlns:a="http://schemas.openxmlformats.org/drawingml/2006/main">
              <a:ext uri="{FF2B5EF4-FFF2-40B4-BE49-F238E27FC236}">
                <a16:creationId xmlns:a16="http://schemas.microsoft.com/office/drawing/2014/main" id="{48993380-5DA9-4827-A41C-B1312157DF63}"/>
              </a:ext>
            </a:extLst>
          </p:cNvPr>
          <p:cNvPicPr>
            <a:picLocks xmlns:a="http://schemas.openxmlformats.org/drawingml/2006/main" noChangeAspect="1"/>
          </p:cNvPicPr>
          <p:nvPr/>
        </p:nvPicPr>
        <p:blipFill>
          <a:blip xmlns:r="http://schemas.openxmlformats.org/officeDocument/2006/relationships" xmlns:a="http://schemas.openxmlformats.org/drawingml/2006/main" r:embed="Ra26d51b8e46c4d29"/>
          <a:stretch xmlns:a="http://schemas.openxmlformats.org/drawingml/2006/main"/>
        </p:blipFill>
        <p:spPr>
          <a:xfrm xmlns:a="http://schemas.openxmlformats.org/drawingml/2006/main">
            <a:off x="457200" y="1371600"/>
            <a:ext cx="6035040" cy="5029200"/>
          </a:xfrm>
          <a:prstGeom xmlns:a="http://schemas.openxmlformats.org/drawingml/2006/main" prst="rect">
            <a:avLst/>
          </a:prstGeom>
        </p:spPr>
      </p:pic>
    </p:spTree>
    <p:extLst>
      <p:ext uri="{BB962C8B-B14F-4D97-AF65-F5344CB8AC3E}">
        <p14:creationId xmlns:p14="http://schemas.microsoft.com/office/powerpoint/2010/main" val="47941366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B3E1CF6-949D-4AEF-8FB6-8F1D53091FE8}"/>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C5B9F4AB-1502-4692-868F-C5A5C3C44C9B}"/>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49502E9-FB9D-421E-83B0-FAA355D5A3E3}"/>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Tools and the bounded agent</a:t>
            </a:r>
          </a:p>
        </p:txBody>
      </p:sp>
      <p:sp>
        <p:nvSpPr>
          <p:cNvPr id="5" name="TextBox 4">
            <a:extLst xmlns:a="http://schemas.openxmlformats.org/drawingml/2006/main">
              <a:ext uri="{FF2B5EF4-FFF2-40B4-BE49-F238E27FC236}">
                <a16:creationId xmlns:a16="http://schemas.microsoft.com/office/drawing/2014/main" id="{4CBB2780-10D0-4D0D-97A0-B7E3C8EE1CE6}"/>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WEEKS 4-5</a:t>
            </a:r>
          </a:p>
        </p:txBody>
      </p:sp>
      <p:sp>
        <p:nvSpPr>
          <p:cNvPr id="6" name="TextBox 5">
            <a:extLst xmlns:a="http://schemas.openxmlformats.org/drawingml/2006/main">
              <a:ext uri="{FF2B5EF4-FFF2-40B4-BE49-F238E27FC236}">
                <a16:creationId xmlns:a16="http://schemas.microsoft.com/office/drawing/2014/main" id="{76EC46E5-99BC-4136-8865-8886A28A2637}"/>
              </a:ext>
            </a:extLst>
          </p:cNvPr>
          <p:cNvSpPr>
            <a:spLocks xmlns:a="http://schemas.openxmlformats.org/drawingml/2006/main" noGrp="1"/>
          </p:cNvSpPr>
          <p:nvPr/>
        </p:nvSpPr>
        <p:spPr>
          <a:xfrm xmlns:a="http://schemas.openxmlformats.org/drawingml/2006/main">
            <a:off x="548640" y="1371600"/>
            <a:ext cx="11064240" cy="5120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100" b="0">
                <a:solidFill>
                  <a:srgbClr val="1B2A5B"/>
                </a:solidFill>
              </a:rPr>
              <a:t>• 8 tools: low stock, quotes, reorder qty, plan within budget, draft,</a:t>
            </a:r>
          </a:p>
          <a:p xmlns:a="http://schemas.openxmlformats.org/drawingml/2006/main">
            <a:pPr lvl="1">
              <a:spcAft>
                <a:spcPts val="600"/>
              </a:spcAft>
              <a:buNone/>
            </a:pPr>
            <a:r>
              <a:rPr sz="1800" b="0">
                <a:solidFill>
                  <a:srgbClr val="5B6478"/>
                </a:solidFill>
              </a:rPr>
              <a:t>– inventory, purchase history, policy search</a:t>
            </a:r>
          </a:p>
          <a:p xmlns:a="http://schemas.openxmlformats.org/drawingml/2006/main">
            <a:pPr>
              <a:spcAft>
                <a:spcPts val="600"/>
              </a:spcAft>
              <a:buNone/>
            </a:pPr>
            <a:r>
              <a:rPr sz="2100" b="0">
                <a:solidFill>
                  <a:srgbClr val="1B2A5B"/>
                </a:solidFill>
              </a:rPr>
              <a:t>• Registry: allow-list -&gt; schema validation -&gt; trusted context -&gt; run -&gt; trace</a:t>
            </a:r>
          </a:p>
          <a:p xmlns:a="http://schemas.openxmlformats.org/drawingml/2006/main">
            <a:pPr>
              <a:spcAft>
                <a:spcPts val="600"/>
              </a:spcAft>
              <a:buNone/>
            </a:pPr>
            <a:r>
              <a:rPr sz="2100" b="0">
                <a:solidFill>
                  <a:srgbClr val="1B2A5B"/>
                </a:solidFill>
              </a:rPr>
              <a:t>• Restock agent: max 5 turns / 6 tool calls; outcome decided by code</a:t>
            </a:r>
          </a:p>
          <a:p xmlns:a="http://schemas.openxmlformats.org/drawingml/2006/main">
            <a:pPr>
              <a:spcAft>
                <a:spcPts val="600"/>
              </a:spcAft>
              <a:buNone/>
            </a:pPr>
            <a:r>
              <a:rPr sz="2100" b="0">
                <a:solidFill>
                  <a:srgbClr val="1B2A5B"/>
                </a:solidFill>
              </a:rPr>
              <a:t>• Worked example (all computed by tools):</a:t>
            </a:r>
          </a:p>
          <a:p xmlns:a="http://schemas.openxmlformats.org/drawingml/2006/main">
            <a:pPr lvl="1">
              <a:spcAft>
                <a:spcPts val="600"/>
              </a:spcAft>
              <a:buNone/>
            </a:pPr>
            <a:r>
              <a:rPr sz="1800" b="0">
                <a:solidFill>
                  <a:srgbClr val="5B6478"/>
                </a:solidFill>
              </a:rPr>
              <a:t>– 10 of 15 items low · Bic Pens 65 · Rulers 57 · draft UGX 84,406</a:t>
            </a:r>
          </a:p>
          <a:p xmlns:a="http://schemas.openxmlformats.org/drawingml/2006/main">
            <a:pPr lvl="1">
              <a:spcAft>
                <a:spcPts val="600"/>
              </a:spcAft>
              <a:buNone/>
            </a:pPr>
            <a:r>
              <a:rPr sz="1800" b="0">
                <a:solidFill>
                  <a:srgbClr val="5B6478"/>
                </a:solidFill>
              </a:rPr>
              <a:t>– Budget UGX 300,000 -&gt; 4 items, UGX 294,130</a:t>
            </a:r>
          </a:p>
        </p:txBody>
      </p:sp>
    </p:spTree>
    <p:extLst>
      <p:ext uri="{BB962C8B-B14F-4D97-AF65-F5344CB8AC3E}">
        <p14:creationId xmlns:p14="http://schemas.microsoft.com/office/powerpoint/2010/main" val="19636153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4C85204-A432-4AD1-912B-4C7D39525EA5}"/>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CB0AE039-E7FB-4D7C-A4E2-5F203D75B8F9}"/>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AEEDECD5-E77B-4A40-996D-2A62A5A75C4C}"/>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Memory, state and interoperability</a:t>
            </a:r>
          </a:p>
        </p:txBody>
      </p:sp>
      <p:sp>
        <p:nvSpPr>
          <p:cNvPr id="5" name="TextBox 4">
            <a:extLst xmlns:a="http://schemas.openxmlformats.org/drawingml/2006/main">
              <a:ext uri="{FF2B5EF4-FFF2-40B4-BE49-F238E27FC236}">
                <a16:creationId xmlns:a16="http://schemas.microsoft.com/office/drawing/2014/main" id="{ADCA0AD8-7626-4DE2-B710-C24997CF77ED}"/>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WEEK 6</a:t>
            </a:r>
          </a:p>
        </p:txBody>
      </p:sp>
      <p:sp>
        <p:nvSpPr>
          <p:cNvPr id="7" name="TextBox 6">
            <a:extLst xmlns:a="http://schemas.openxmlformats.org/drawingml/2006/main">
              <a:ext uri="{FF2B5EF4-FFF2-40B4-BE49-F238E27FC236}">
                <a16:creationId xmlns:a16="http://schemas.microsoft.com/office/drawing/2014/main" id="{12A17042-06A7-48C7-978E-A49371586B3D}"/>
              </a:ext>
            </a:extLst>
          </p:cNvPr>
          <p:cNvSpPr>
            <a:spLocks xmlns:a="http://schemas.openxmlformats.org/drawingml/2006/main" noGrp="1"/>
          </p:cNvSpPr>
          <p:nvPr/>
        </p:nvSpPr>
        <p:spPr>
          <a:xfrm xmlns:a="http://schemas.openxmlformats.org/drawingml/2006/main">
            <a:off x="6766560" y="1463040"/>
            <a:ext cx="5029200" cy="4937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1900" b="0">
                <a:solidFill>
                  <a:srgbClr val="1B2A5B"/>
                </a:solidFill>
              </a:rPr>
              <a:t>• FSM: INITIALIZED -&gt; ... -&gt; AWAITING_APPROVAL -&gt; APPROVED / REJECTED</a:t>
            </a:r>
          </a:p>
          <a:p xmlns:a="http://schemas.openxmlformats.org/drawingml/2006/main">
            <a:pPr>
              <a:spcAft>
                <a:spcPts val="600"/>
              </a:spcAft>
              <a:buNone/>
            </a:pPr>
            <a:r>
              <a:rPr sz="1900" b="0">
                <a:solidFill>
                  <a:srgbClr val="1B2A5B"/>
                </a:solidFill>
              </a:rPr>
              <a:t>• SQLite, scoped by shop + user</a:t>
            </a:r>
          </a:p>
          <a:p xmlns:a="http://schemas.openxmlformats.org/drawingml/2006/main">
            <a:pPr>
              <a:spcAft>
                <a:spcPts val="600"/>
              </a:spcAft>
              <a:buNone/>
            </a:pPr>
            <a:r>
              <a:rPr sz="1900" b="0">
                <a:solidFill>
                  <a:srgbClr val="1B2A5B"/>
                </a:solidFill>
              </a:rPr>
              <a:t>• Shop id injected by code, never by the model</a:t>
            </a:r>
          </a:p>
          <a:p xmlns:a="http://schemas.openxmlformats.org/drawingml/2006/main">
            <a:pPr>
              <a:spcAft>
                <a:spcPts val="600"/>
              </a:spcAft>
              <a:buNone/>
            </a:pPr>
            <a:r>
              <a:rPr sz="1900" b="0">
                <a:solidFill>
                  <a:srgbClr val="1B2A5B"/>
                </a:solidFill>
              </a:rPr>
              <a:t>• Justified memory with erasure</a:t>
            </a:r>
          </a:p>
          <a:p xmlns:a="http://schemas.openxmlformats.org/drawingml/2006/main">
            <a:pPr>
              <a:spcAft>
                <a:spcPts val="600"/>
              </a:spcAft>
              <a:buNone/>
            </a:pPr>
            <a:r>
              <a:rPr sz="1900" b="0">
                <a:solidFill>
                  <a:srgbClr val="1B2A5B"/>
                </a:solidFill>
              </a:rPr>
              <a:t>• MCP JSON-RPC server</a:t>
            </a:r>
          </a:p>
        </p:txBody>
      </p:sp>
      <p:pic>
        <p:nvPicPr>
          <p:cNvPr id="8" name="">
            <a:extLst xmlns:a="http://schemas.openxmlformats.org/drawingml/2006/main">
              <a:ext uri="{FF2B5EF4-FFF2-40B4-BE49-F238E27FC236}">
                <a16:creationId xmlns:a16="http://schemas.microsoft.com/office/drawing/2014/main" id="{8ECCCCF4-E1D2-4F4C-813E-45A005F8B184}"/>
              </a:ext>
            </a:extLst>
          </p:cNvPr>
          <p:cNvPicPr>
            <a:picLocks xmlns:a="http://schemas.openxmlformats.org/drawingml/2006/main" noChangeAspect="1"/>
          </p:cNvPicPr>
          <p:nvPr/>
        </p:nvPicPr>
        <p:blipFill>
          <a:blip xmlns:r="http://schemas.openxmlformats.org/officeDocument/2006/relationships" xmlns:a="http://schemas.openxmlformats.org/drawingml/2006/main" r:embed="R2c93a4ee011a47d5"/>
          <a:stretch xmlns:a="http://schemas.openxmlformats.org/drawingml/2006/main"/>
        </p:blipFill>
        <p:spPr>
          <a:xfrm xmlns:a="http://schemas.openxmlformats.org/drawingml/2006/main">
            <a:off x="457200" y="1371600"/>
            <a:ext cx="6035040" cy="5029200"/>
          </a:xfrm>
          <a:prstGeom xmlns:a="http://schemas.openxmlformats.org/drawingml/2006/main" prst="rect">
            <a:avLst/>
          </a:prstGeom>
        </p:spPr>
      </p:pic>
    </p:spTree>
    <p:extLst>
      <p:ext uri="{BB962C8B-B14F-4D97-AF65-F5344CB8AC3E}">
        <p14:creationId xmlns:p14="http://schemas.microsoft.com/office/powerpoint/2010/main" val="136816782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3EBF3FB-610E-4A8D-B540-B30730F4C7F3}"/>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1EDD0CB-CF70-446F-97CC-000FFCB6D4F5}"/>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B75F1576-CB98-49A6-AB50-3F9EB7A1BBCC}"/>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The web UI</a:t>
            </a:r>
          </a:p>
        </p:txBody>
      </p:sp>
      <p:sp>
        <p:nvSpPr>
          <p:cNvPr id="5" name="TextBox 4">
            <a:extLst xmlns:a="http://schemas.openxmlformats.org/drawingml/2006/main">
              <a:ext uri="{FF2B5EF4-FFF2-40B4-BE49-F238E27FC236}">
                <a16:creationId xmlns:a16="http://schemas.microsoft.com/office/drawing/2014/main" id="{E4528529-7EC2-446F-84CE-E8FF4E8F1F77}"/>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UI</a:t>
            </a:r>
          </a:p>
        </p:txBody>
      </p:sp>
      <p:pic>
        <p:nvPicPr>
          <p:cNvPr id="6" name="Picture 5">
            <a:extLst xmlns:a="http://schemas.openxmlformats.org/drawingml/2006/main">
              <a:ext uri="{FF2B5EF4-FFF2-40B4-BE49-F238E27FC236}">
                <a16:creationId xmlns:a16="http://schemas.microsoft.com/office/drawing/2014/main" id="{CE2FD55B-DE39-45EE-BFE8-054BF92974B0}"/>
              </a:ext>
            </a:extLst>
          </p:cNvPr>
          <p:cNvPicPr>
            <a:picLocks xmlns:a="http://schemas.openxmlformats.org/drawingml/2006/main" noChangeAspect="1"/>
          </p:cNvPicPr>
          <p:nvPr/>
        </p:nvPicPr>
        <p:blipFill>
          <a:blip xmlns:r="http://schemas.openxmlformats.org/officeDocument/2006/relationships" xmlns:a="http://schemas.openxmlformats.org/drawingml/2006/main" r:embed="R245c644556484da7"/>
          <a:stretch xmlns:a="http://schemas.openxmlformats.org/drawingml/2006/main">
            <a:fillRect l="0" t="0" r="0" b="0"/>
          </a:stretch>
        </p:blipFill>
        <p:spPr>
          <a:xfrm xmlns:a="http://schemas.openxmlformats.org/drawingml/2006/main">
            <a:off x="457200" y="1371600"/>
            <a:ext cx="6766560" cy="42291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A3AFFEA-F625-4C57-B8A0-4011BAE80EB4}"/>
              </a:ext>
            </a:extLst>
          </p:cNvPr>
          <p:cNvPicPr>
            <a:picLocks xmlns:a="http://schemas.openxmlformats.org/drawingml/2006/main" noChangeAspect="1"/>
          </p:cNvPicPr>
          <p:nvPr/>
        </p:nvPicPr>
        <p:blipFill>
          <a:blip xmlns:r="http://schemas.openxmlformats.org/officeDocument/2006/relationships" xmlns:a="http://schemas.openxmlformats.org/drawingml/2006/main" r:embed="R86fb29fa7b2243d4"/>
          <a:stretch xmlns:a="http://schemas.openxmlformats.org/drawingml/2006/main"/>
        </p:blipFill>
        <p:spPr>
          <a:xfrm xmlns:a="http://schemas.openxmlformats.org/drawingml/2006/main">
            <a:off x="7498079" y="1371600"/>
            <a:ext cx="4206240" cy="5120640"/>
          </a:xfrm>
          <a:prstGeom xmlns:a="http://schemas.openxmlformats.org/drawingml/2006/main" prst="rect">
            <a:avLst/>
          </a:prstGeom>
        </p:spPr>
      </p:pic>
    </p:spTree>
    <p:extLst>
      <p:ext uri="{BB962C8B-B14F-4D97-AF65-F5344CB8AC3E}">
        <p14:creationId xmlns:p14="http://schemas.microsoft.com/office/powerpoint/2010/main" val="187887780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7485E4A-1E36-4783-811B-CD7EF251D982}"/>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7173A47-FD79-4BF2-9E4A-D3149E490F21}"/>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70C8E2F2-E3EE-44C6-A883-21F81B12C0A0}"/>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Live demo</a:t>
            </a:r>
          </a:p>
        </p:txBody>
      </p:sp>
      <p:sp>
        <p:nvSpPr>
          <p:cNvPr id="5" name="TextBox 4">
            <a:extLst xmlns:a="http://schemas.openxmlformats.org/drawingml/2006/main">
              <a:ext uri="{FF2B5EF4-FFF2-40B4-BE49-F238E27FC236}">
                <a16:creationId xmlns:a16="http://schemas.microsoft.com/office/drawing/2014/main" id="{172F6E97-9B69-41A9-BAEB-B64E022A677D}"/>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DEMO</a:t>
            </a:r>
          </a:p>
        </p:txBody>
      </p:sp>
      <p:sp>
        <p:nvSpPr>
          <p:cNvPr id="6" name="TextBox 5">
            <a:extLst xmlns:a="http://schemas.openxmlformats.org/drawingml/2006/main">
              <a:ext uri="{FF2B5EF4-FFF2-40B4-BE49-F238E27FC236}">
                <a16:creationId xmlns:a16="http://schemas.microsoft.com/office/drawing/2014/main" id="{67511D2C-55EE-45FA-B1E8-736AB1E4C582}"/>
              </a:ext>
            </a:extLst>
          </p:cNvPr>
          <p:cNvSpPr>
            <a:spLocks xmlns:a="http://schemas.openxmlformats.org/drawingml/2006/main" noGrp="1"/>
          </p:cNvSpPr>
          <p:nvPr/>
        </p:nvSpPr>
        <p:spPr>
          <a:xfrm xmlns:a="http://schemas.openxmlformats.org/drawingml/2006/main">
            <a:off x="548640" y="1371600"/>
            <a:ext cx="5760720" cy="5120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000" b="0">
                <a:solidFill>
                  <a:srgbClr val="1B2A5B"/>
                </a:solidFill>
              </a:rPr>
              <a:t>• Weekly restock, budget UGX 300,000 -&gt; timeline + DRAFT</a:t>
            </a:r>
          </a:p>
          <a:p xmlns:a="http://schemas.openxmlformats.org/drawingml/2006/main">
            <a:pPr>
              <a:spcAft>
                <a:spcPts val="600"/>
              </a:spcAft>
              <a:buNone/>
            </a:pPr>
            <a:r>
              <a:rPr sz="2000" b="0">
                <a:solidFill>
                  <a:srgbClr val="1B2A5B"/>
                </a:solidFill>
              </a:rPr>
              <a:t>• Review drafts: it waits for a human</a:t>
            </a:r>
          </a:p>
          <a:p xmlns:a="http://schemas.openxmlformats.org/drawingml/2006/main">
            <a:pPr>
              <a:spcAft>
                <a:spcPts val="600"/>
              </a:spcAft>
              <a:buNone/>
            </a:pPr>
            <a:r>
              <a:rPr sz="2000" b="0">
                <a:solidFill>
                  <a:srgbClr val="1B2A5B"/>
                </a:solidFill>
              </a:rPr>
              <a:t>• Ask the AI to approve it -&gt; refused (no such tool)</a:t>
            </a:r>
          </a:p>
          <a:p xmlns:a="http://schemas.openxmlformats.org/drawingml/2006/main">
            <a:pPr>
              <a:spcAft>
                <a:spcPts val="600"/>
              </a:spcAft>
              <a:buNone/>
            </a:pPr>
            <a:r>
              <a:rPr sz="2000" b="0">
                <a:solidFill>
                  <a:srgbClr val="1B2A5B"/>
                </a:solidFill>
              </a:rPr>
              <a:t>• Human approves -&gt; audit event + state APPROVED</a:t>
            </a:r>
          </a:p>
        </p:txBody>
      </p:sp>
      <p:pic>
        <p:nvPicPr>
          <p:cNvPr id="9" name="">
            <a:extLst xmlns:a="http://schemas.openxmlformats.org/drawingml/2006/main">
              <a:ext uri="{FF2B5EF4-FFF2-40B4-BE49-F238E27FC236}">
                <a16:creationId xmlns:a16="http://schemas.microsoft.com/office/drawing/2014/main" id="{E4D32BE9-83F6-42F6-8504-B620E3590F4B}"/>
              </a:ext>
            </a:extLst>
          </p:cNvPr>
          <p:cNvPicPr>
            <a:picLocks xmlns:a="http://schemas.openxmlformats.org/drawingml/2006/main" noChangeAspect="1"/>
          </p:cNvPicPr>
          <p:nvPr/>
        </p:nvPicPr>
        <p:blipFill>
          <a:blip xmlns:r="http://schemas.openxmlformats.org/officeDocument/2006/relationships" xmlns:a="http://schemas.openxmlformats.org/drawingml/2006/main" r:embed="R097e241492114bcd"/>
          <a:stretch xmlns:a="http://schemas.openxmlformats.org/drawingml/2006/main"/>
        </p:blipFill>
        <p:spPr>
          <a:xfrm xmlns:a="http://schemas.openxmlformats.org/drawingml/2006/main">
            <a:off x="6492240" y="1371600"/>
            <a:ext cx="5303520" cy="246888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1CDEA50-EF53-46F0-9226-BDBF0518FDB3}"/>
              </a:ext>
            </a:extLst>
          </p:cNvPr>
          <p:cNvPicPr>
            <a:picLocks xmlns:a="http://schemas.openxmlformats.org/drawingml/2006/main" noChangeAspect="1"/>
          </p:cNvPicPr>
          <p:nvPr/>
        </p:nvPicPr>
        <p:blipFill>
          <a:blip xmlns:r="http://schemas.openxmlformats.org/officeDocument/2006/relationships" xmlns:a="http://schemas.openxmlformats.org/drawingml/2006/main" r:embed="Rb69624efc7034233"/>
          <a:stretch xmlns:a="http://schemas.openxmlformats.org/drawingml/2006/main"/>
        </p:blipFill>
        <p:spPr>
          <a:xfrm xmlns:a="http://schemas.openxmlformats.org/drawingml/2006/main">
            <a:off x="6492240" y="4023360"/>
            <a:ext cx="5303520" cy="2468880"/>
          </a:xfrm>
          <a:prstGeom xmlns:a="http://schemas.openxmlformats.org/drawingml/2006/main" prst="rect">
            <a:avLst/>
          </a:prstGeom>
        </p:spPr>
      </p:pic>
    </p:spTree>
    <p:extLst>
      <p:ext uri="{BB962C8B-B14F-4D97-AF65-F5344CB8AC3E}">
        <p14:creationId xmlns:p14="http://schemas.microsoft.com/office/powerpoint/2010/main" val="70242001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E0A327D-1874-412A-8356-50B73F66DE97}"/>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AD95CC4-2FD7-4FEE-B781-CF3EAA43BF06}"/>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2F298212-2401-408B-9369-F203078C516A}"/>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Traces and logs: inspecting what the AI did</a:t>
            </a:r>
          </a:p>
        </p:txBody>
      </p:sp>
      <p:sp>
        <p:nvSpPr>
          <p:cNvPr id="5" name="TextBox 4">
            <a:extLst xmlns:a="http://schemas.openxmlformats.org/drawingml/2006/main">
              <a:ext uri="{FF2B5EF4-FFF2-40B4-BE49-F238E27FC236}">
                <a16:creationId xmlns:a16="http://schemas.microsoft.com/office/drawing/2014/main" id="{B5C17ADC-3F31-421E-B4E7-460BF906D586}"/>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OBSERVABILITY</a:t>
            </a:r>
          </a:p>
        </p:txBody>
      </p:sp>
      <p:sp>
        <p:nvSpPr>
          <p:cNvPr id="6" name="TextBox 5">
            <a:extLst xmlns:a="http://schemas.openxmlformats.org/drawingml/2006/main">
              <a:ext uri="{FF2B5EF4-FFF2-40B4-BE49-F238E27FC236}">
                <a16:creationId xmlns:a16="http://schemas.microsoft.com/office/drawing/2014/main" id="{D7A7B76C-5989-4A63-B021-A8631D5445CC}"/>
              </a:ext>
            </a:extLst>
          </p:cNvPr>
          <p:cNvSpPr>
            <a:spLocks xmlns:a="http://schemas.openxmlformats.org/drawingml/2006/main" noGrp="1"/>
          </p:cNvSpPr>
          <p:nvPr/>
        </p:nvSpPr>
        <p:spPr>
          <a:xfrm xmlns:a="http://schemas.openxmlformats.org/drawingml/2006/main">
            <a:off x="548640" y="1371600"/>
            <a:ext cx="5852160" cy="5120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1900" b="0">
                <a:solidFill>
                  <a:srgbClr val="1B2A5B"/>
                </a:solidFill>
              </a:rPr>
              <a:t>• llm_calls.jsonl: every model call (model, round, latency, outcome)</a:t>
            </a:r>
          </a:p>
          <a:p xmlns:a="http://schemas.openxmlformats.org/drawingml/2006/main">
            <a:pPr>
              <a:spcAft>
                <a:spcPts val="600"/>
              </a:spcAft>
              <a:buNone/>
            </a:pPr>
            <a:r>
              <a:rPr sz="1900" b="0">
                <a:solidFill>
                  <a:srgbClr val="1B2A5B"/>
                </a:solidFill>
              </a:rPr>
              <a:t>• tool_traces.jsonl: every tool call, allowed and blocked</a:t>
            </a:r>
          </a:p>
          <a:p xmlns:a="http://schemas.openxmlformats.org/drawingml/2006/main">
            <a:pPr>
              <a:spcAft>
                <a:spcPts val="600"/>
              </a:spcAft>
              <a:buNone/>
            </a:pPr>
            <a:r>
              <a:rPr sz="1900" b="0">
                <a:solidFill>
                  <a:srgbClr val="1B2A5B"/>
                </a:solidFill>
              </a:rPr>
              <a:t>• trace_T*.md: Sense -&gt; Plan -&gt; Act -&gt; Observe -&gt; Stop</a:t>
            </a:r>
          </a:p>
          <a:p xmlns:a="http://schemas.openxmlformats.org/drawingml/2006/main">
            <a:pPr>
              <a:spcAft>
                <a:spcPts val="600"/>
              </a:spcAft>
              <a:buNone/>
            </a:pPr>
            <a:r>
              <a:rPr sz="1900" b="0">
                <a:solidFill>
                  <a:srgbClr val="1B2A5B"/>
                </a:solidFill>
              </a:rPr>
              <a:t>• audit_events (SQLite): every human decision and edit</a:t>
            </a:r>
          </a:p>
          <a:p xmlns:a="http://schemas.openxmlformats.org/drawingml/2006/main">
            <a:pPr>
              <a:spcAft>
                <a:spcPts val="600"/>
              </a:spcAft>
              <a:buNone/>
            </a:pPr>
            <a:r>
              <a:rPr sz="1900" b="0">
                <a:solidFill>
                  <a:srgbClr val="1B2A5B"/>
                </a:solidFill>
              </a:rPr>
              <a:t>• state_transitions (SQLite): every workflow move</a:t>
            </a:r>
          </a:p>
        </p:txBody>
      </p:sp>
      <p:pic>
        <p:nvPicPr>
          <p:cNvPr id="7" name="">
            <a:extLst xmlns:a="http://schemas.openxmlformats.org/drawingml/2006/main">
              <a:ext uri="{FF2B5EF4-FFF2-40B4-BE49-F238E27FC236}">
                <a16:creationId xmlns:a16="http://schemas.microsoft.com/office/drawing/2014/main" id="{E5C4042B-C387-4D25-82C3-82C60B18BBB9}"/>
              </a:ext>
            </a:extLst>
          </p:cNvPr>
          <p:cNvPicPr>
            <a:picLocks xmlns:a="http://schemas.openxmlformats.org/drawingml/2006/main" noChangeAspect="1"/>
          </p:cNvPicPr>
          <p:nvPr/>
        </p:nvPicPr>
        <p:blipFill>
          <a:blip xmlns:r="http://schemas.openxmlformats.org/officeDocument/2006/relationships" xmlns:a="http://schemas.openxmlformats.org/drawingml/2006/main" r:embed="Raccbcfd0a1484db6"/>
          <a:stretch xmlns:a="http://schemas.openxmlformats.org/drawingml/2006/main"/>
        </p:blipFill>
        <p:spPr>
          <a:xfrm xmlns:a="http://schemas.openxmlformats.org/drawingml/2006/main">
            <a:off x="6492240" y="1371600"/>
            <a:ext cx="5303520" cy="5120640"/>
          </a:xfrm>
          <a:prstGeom xmlns:a="http://schemas.openxmlformats.org/drawingml/2006/main" prst="rect">
            <a:avLst/>
          </a:prstGeom>
        </p:spPr>
      </p:pic>
    </p:spTree>
    <p:extLst>
      <p:ext uri="{BB962C8B-B14F-4D97-AF65-F5344CB8AC3E}">
        <p14:creationId xmlns:p14="http://schemas.microsoft.com/office/powerpoint/2010/main" val="147536259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71B16BA-584D-4ABB-9A0B-987E24CDDF92}"/>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BB59B41A-4F9A-4ACD-9FCC-58009BE83DB4}"/>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236823F-E65B-47F9-ABA4-B2FB982AC799}"/>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A real failure: F-26, the merge that hid every draft</a:t>
            </a:r>
          </a:p>
        </p:txBody>
      </p:sp>
      <p:sp>
        <p:nvSpPr>
          <p:cNvPr id="5" name="TextBox 4">
            <a:extLst xmlns:a="http://schemas.openxmlformats.org/drawingml/2006/main">
              <a:ext uri="{FF2B5EF4-FFF2-40B4-BE49-F238E27FC236}">
                <a16:creationId xmlns:a16="http://schemas.microsoft.com/office/drawing/2014/main" id="{210FCA66-6C03-45BF-BFA9-5875AACA0F22}"/>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FAILURE</a:t>
            </a:r>
          </a:p>
        </p:txBody>
      </p:sp>
      <p:graphicFrame>
        <p:nvGraphicFramePr>
          <p:cNvPr id="6" name="Table 5">
            <a:extLst xmlns:a="http://schemas.openxmlformats.org/drawingml/2006/main">
              <a:ext uri="{FF2B5EF4-FFF2-40B4-BE49-F238E27FC236}">
                <a16:creationId xmlns:a16="http://schemas.microsoft.com/office/drawing/2014/main" id="{73638D44-9009-4E64-B053-0CA1AC9FC435}"/>
              </a:ext>
            </a:extLst>
          </p:cNvPr>
          <p:cNvGraphicFramePr/>
          <p:nvPr/>
        </p:nvGraphicFramePr>
        <p:xfrm>
          <a:off xmlns:a="http://schemas.openxmlformats.org/drawingml/2006/main" x="457200" y="1417320"/>
          <a:ext xmlns:a="http://schemas.openxmlformats.org/drawingml/2006/main" cx="6035040" cy="2743200"/>
        </p:xfrm>
        <a:graphic xmlns:a="http://schemas.openxmlformats.org/drawingml/2006/main">
          <a:graphicData uri="http://schemas.openxmlformats.org/drawingml/2006/table">
            <a:tbl>
              <a:tblPr firstRow="1" bandRow="1">
                <a:tableStyleId>{5C22544A-7EE6-4342-B048-85BDC9FD1C3A}</a:tableStyleId>
              </a:tblPr>
              <a:tblGrid>
                <a:gridCol w="2560320"/>
                <a:gridCol w="1737360"/>
                <a:gridCol w="1737360"/>
              </a:tblGrid>
              <a:tr h="548640">
                <a:tc>
                  <a:txBody>
                    <a:bodyPr/>
                    <a:lstStyle/>
                    <a:p>
                      <a:r>
                        <a:rPr sz="1700" b="1">
                          <a:solidFill>
                            <a:srgbClr val="FFFFFF"/>
                          </a:solidFill>
                        </a:rPr>
                        <a:t>Offline suite</a:t>
                      </a:r>
                    </a:p>
                  </a:txBody>
                  <a:tcPr marL="91440" marR="91440" marT="45720" marB="45720">
                    <a:solidFill>
                      <a:srgbClr val="1B2A5B"/>
                    </a:solidFill>
                  </a:tcPr>
                </a:tc>
                <a:tc>
                  <a:txBody>
                    <a:bodyPr/>
                    <a:lstStyle/>
                    <a:p>
                      <a:r>
                        <a:rPr sz="1700" b="1">
                          <a:solidFill>
                            <a:srgbClr val="FFFFFF"/>
                          </a:solidFill>
                        </a:rPr>
                        <a:t>Before the fix</a:t>
                      </a:r>
                    </a:p>
                  </a:txBody>
                  <a:tcPr marL="91440" marR="91440" marT="45720" marB="45720">
                    <a:solidFill>
                      <a:srgbClr val="1B2A5B"/>
                    </a:solidFill>
                  </a:tcPr>
                </a:tc>
                <a:tc>
                  <a:txBody>
                    <a:bodyPr/>
                    <a:lstStyle/>
                    <a:p>
                      <a:r>
                        <a:rPr sz="1700" b="1">
                          <a:solidFill>
                            <a:srgbClr val="FFFFFF"/>
                          </a:solidFill>
                        </a:rPr>
                        <a:t>After the fix</a:t>
                      </a:r>
                    </a:p>
                  </a:txBody>
                  <a:tcPr marL="91440" marR="91440" marT="45720" marB="45720">
                    <a:solidFill>
                      <a:srgbClr val="1B2A5B"/>
                    </a:solidFill>
                  </a:tcPr>
                </a:tc>
              </a:tr>
              <a:tr h="548640">
                <a:tc>
                  <a:txBody>
                    <a:bodyPr/>
                    <a:lstStyle/>
                    <a:p>
                      <a:r>
                        <a:rPr sz="1700" b="0">
                          <a:solidFill>
                            <a:srgbClr val="1B2A5B"/>
                          </a:solidFill>
                        </a:rPr>
                        <a:t>Week 4 tools</a:t>
                      </a:r>
                    </a:p>
                  </a:txBody>
                  <a:tcPr marL="91440" marR="91440" marT="45720" marB="45720">
                    <a:solidFill>
                      <a:srgbClr val="E8ECF5"/>
                    </a:solidFill>
                  </a:tcPr>
                </a:tc>
                <a:tc>
                  <a:txBody>
                    <a:bodyPr/>
                    <a:lstStyle/>
                    <a:p>
                      <a:r>
                        <a:rPr sz="1700" b="0">
                          <a:solidFill>
                            <a:srgbClr val="1B2A5B"/>
                          </a:solidFill>
                        </a:rPr>
                        <a:t>20/22</a:t>
                      </a:r>
                    </a:p>
                  </a:txBody>
                  <a:tcPr marL="91440" marR="91440" marT="45720" marB="45720">
                    <a:solidFill>
                      <a:srgbClr val="E8ECF5"/>
                    </a:solidFill>
                  </a:tcPr>
                </a:tc>
                <a:tc>
                  <a:txBody>
                    <a:bodyPr/>
                    <a:lstStyle/>
                    <a:p>
                      <a:r>
                        <a:rPr sz="1700" b="0">
                          <a:solidFill>
                            <a:srgbClr val="1B2A5B"/>
                          </a:solidFill>
                        </a:rPr>
                        <a:t>22/22</a:t>
                      </a:r>
                    </a:p>
                  </a:txBody>
                  <a:tcPr marL="91440" marR="91440" marT="45720" marB="45720">
                    <a:solidFill>
                      <a:srgbClr val="E8ECF5"/>
                    </a:solidFill>
                  </a:tcPr>
                </a:tc>
              </a:tr>
              <a:tr h="548640">
                <a:tc>
                  <a:txBody>
                    <a:bodyPr/>
                    <a:lstStyle/>
                    <a:p>
                      <a:r>
                        <a:rPr sz="1700" b="0">
                          <a:solidFill>
                            <a:srgbClr val="1B2A5B"/>
                          </a:solidFill>
                        </a:rPr>
                        <a:t>Week 5 agent</a:t>
                      </a:r>
                    </a:p>
                  </a:txBody>
                  <a:tcPr marL="91440" marR="91440" marT="45720" marB="45720">
                    <a:solidFill>
                      <a:srgbClr val="FFFFFF"/>
                    </a:solidFill>
                  </a:tcPr>
                </a:tc>
                <a:tc>
                  <a:txBody>
                    <a:bodyPr/>
                    <a:lstStyle/>
                    <a:p>
                      <a:r>
                        <a:rPr sz="1700" b="0">
                          <a:solidFill>
                            <a:srgbClr val="1B2A5B"/>
                          </a:solidFill>
                        </a:rPr>
                        <a:t>16/17</a:t>
                      </a:r>
                    </a:p>
                  </a:txBody>
                  <a:tcPr marL="91440" marR="91440" marT="45720" marB="45720">
                    <a:solidFill>
                      <a:srgbClr val="FFFFFF"/>
                    </a:solidFill>
                  </a:tcPr>
                </a:tc>
                <a:tc>
                  <a:txBody>
                    <a:bodyPr/>
                    <a:lstStyle/>
                    <a:p>
                      <a:r>
                        <a:rPr sz="1700" b="0">
                          <a:solidFill>
                            <a:srgbClr val="1B2A5B"/>
                          </a:solidFill>
                        </a:rPr>
                        <a:t>17/17</a:t>
                      </a:r>
                    </a:p>
                  </a:txBody>
                  <a:tcPr marL="91440" marR="91440" marT="45720" marB="45720">
                    <a:solidFill>
                      <a:srgbClr val="FFFFFF"/>
                    </a:solidFill>
                  </a:tcPr>
                </a:tc>
              </a:tr>
              <a:tr h="548640">
                <a:tc>
                  <a:txBody>
                    <a:bodyPr/>
                    <a:lstStyle/>
                    <a:p>
                      <a:r>
                        <a:rPr sz="1700" b="0">
                          <a:solidFill>
                            <a:srgbClr val="1B2A5B"/>
                          </a:solidFill>
                        </a:rPr>
                        <a:t>MVP</a:t>
                      </a:r>
                    </a:p>
                  </a:txBody>
                  <a:tcPr marL="91440" marR="91440" marT="45720" marB="45720">
                    <a:solidFill>
                      <a:srgbClr val="E8ECF5"/>
                    </a:solidFill>
                  </a:tcPr>
                </a:tc>
                <a:tc>
                  <a:txBody>
                    <a:bodyPr/>
                    <a:lstStyle/>
                    <a:p>
                      <a:r>
                        <a:rPr sz="1700" b="0">
                          <a:solidFill>
                            <a:srgbClr val="1B2A5B"/>
                          </a:solidFill>
                        </a:rPr>
                        <a:t>5/7</a:t>
                      </a:r>
                    </a:p>
                  </a:txBody>
                  <a:tcPr marL="91440" marR="91440" marT="45720" marB="45720">
                    <a:solidFill>
                      <a:srgbClr val="E8ECF5"/>
                    </a:solidFill>
                  </a:tcPr>
                </a:tc>
                <a:tc>
                  <a:txBody>
                    <a:bodyPr/>
                    <a:lstStyle/>
                    <a:p>
                      <a:r>
                        <a:rPr sz="1700" b="0">
                          <a:solidFill>
                            <a:srgbClr val="1B2A5B"/>
                          </a:solidFill>
                        </a:rPr>
                        <a:t>7/7</a:t>
                      </a:r>
                    </a:p>
                  </a:txBody>
                  <a:tcPr marL="91440" marR="91440" marT="45720" marB="45720">
                    <a:solidFill>
                      <a:srgbClr val="E8ECF5"/>
                    </a:solidFill>
                  </a:tcPr>
                </a:tc>
              </a:tr>
              <a:tr h="548640">
                <a:tc>
                  <a:txBody>
                    <a:bodyPr/>
                    <a:lstStyle/>
                    <a:p>
                      <a:r>
                        <a:rPr sz="1700" b="0">
                          <a:solidFill>
                            <a:srgbClr val="1B2A5B"/>
                          </a:solidFill>
                        </a:rPr>
                        <a:t>Week 6 storage</a:t>
                      </a:r>
                    </a:p>
                  </a:txBody>
                  <a:tcPr marL="91440" marR="91440" marT="45720" marB="45720">
                    <a:solidFill>
                      <a:srgbClr val="FFFFFF"/>
                    </a:solidFill>
                  </a:tcPr>
                </a:tc>
                <a:tc>
                  <a:txBody>
                    <a:bodyPr/>
                    <a:lstStyle/>
                    <a:p>
                      <a:r>
                        <a:rPr sz="1700" b="0">
                          <a:solidFill>
                            <a:srgbClr val="1B2A5B"/>
                          </a:solidFill>
                        </a:rPr>
                        <a:t>did not run</a:t>
                      </a:r>
                    </a:p>
                  </a:txBody>
                  <a:tcPr marL="91440" marR="91440" marT="45720" marB="45720">
                    <a:solidFill>
                      <a:srgbClr val="FFFFFF"/>
                    </a:solidFill>
                  </a:tcPr>
                </a:tc>
                <a:tc>
                  <a:txBody>
                    <a:bodyPr/>
                    <a:lstStyle/>
                    <a:p>
                      <a:r>
                        <a:rPr sz="1700" b="0">
                          <a:solidFill>
                            <a:srgbClr val="1B2A5B"/>
                          </a:solidFill>
                        </a:rPr>
                        <a:t>9/9</a:t>
                      </a:r>
                    </a:p>
                  </a:txBody>
                  <a:tcPr marL="91440" marR="91440" marT="45720" marB="45720">
                    <a:solidFill>
                      <a:srgbClr val="FFFFFF"/>
                    </a:solidFill>
                  </a:tcPr>
                </a:tc>
              </a:tr>
            </a:tbl>
          </a:graphicData>
        </a:graphic>
      </p:graphicFrame>
      <p:sp>
        <p:nvSpPr>
          <p:cNvPr id="7" name="TextBox 6">
            <a:extLst xmlns:a="http://schemas.openxmlformats.org/drawingml/2006/main">
              <a:ext uri="{FF2B5EF4-FFF2-40B4-BE49-F238E27FC236}">
                <a16:creationId xmlns:a16="http://schemas.microsoft.com/office/drawing/2014/main" id="{40959573-D8F7-4C67-BFD7-453DFFFCD63D}"/>
              </a:ext>
            </a:extLst>
          </p:cNvPr>
          <p:cNvSpPr>
            <a:spLocks xmlns:a="http://schemas.openxmlformats.org/drawingml/2006/main" noGrp="1"/>
          </p:cNvSpPr>
          <p:nvPr/>
        </p:nvSpPr>
        <p:spPr>
          <a:xfrm xmlns:a="http://schemas.openxmlformats.org/drawingml/2006/main">
            <a:off x="6766560" y="1463040"/>
            <a:ext cx="5029200" cy="4937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1800" b="0">
                <a:solidFill>
                  <a:srgbClr val="1B2A5B"/>
                </a:solidFill>
              </a:rPr>
              <a:t>• Symptom: AI said 'awaiting approval'; approval list was empty</a:t>
            </a:r>
          </a:p>
          <a:p xmlns:a="http://schemas.openxmlformats.org/drawingml/2006/main">
            <a:pPr>
              <a:spcAft>
                <a:spcPts val="600"/>
              </a:spcAft>
              <a:buNone/>
            </a:pPr>
            <a:r>
              <a:rPr sz="1800" b="0">
                <a:solidFill>
                  <a:srgbClr val="1B2A5B"/>
                </a:solidFill>
              </a:rPr>
              <a:t>• Cause: tool -&gt; SQLite, approvals -&gt; JSON files</a:t>
            </a:r>
          </a:p>
          <a:p xmlns:a="http://schemas.openxmlformats.org/drawingml/2006/main">
            <a:pPr>
              <a:spcAft>
                <a:spcPts val="600"/>
              </a:spcAft>
              <a:buNone/>
            </a:pPr>
            <a:r>
              <a:rPr sz="1800" b="0">
                <a:solidFill>
                  <a:srgbClr val="1B2A5B"/>
                </a:solidFill>
              </a:rPr>
              <a:t>• Fix: one scoped SQLite draft store</a:t>
            </a:r>
          </a:p>
          <a:p xmlns:a="http://schemas.openxmlformats.org/drawingml/2006/main">
            <a:pPr>
              <a:spcAft>
                <a:spcPts val="600"/>
              </a:spcAft>
              <a:buNone/>
            </a:pPr>
            <a:r>
              <a:rPr sz="1800" b="0">
                <a:solidFill>
                  <a:srgbClr val="1B2A5B"/>
                </a:solidFill>
              </a:rPr>
              <a:t>• Lesson: run ALL suites after EVERY merge</a:t>
            </a:r>
          </a:p>
          <a:p xmlns:a="http://schemas.openxmlformats.org/drawingml/2006/main">
            <a:pPr>
              <a:spcAft>
                <a:spcPts val="600"/>
              </a:spcAft>
              <a:buNone/>
            </a:pPr>
            <a:r>
              <a:rPr sz="1800" b="0">
                <a:solidFill>
                  <a:srgbClr val="1B2A5B"/>
                </a:solidFill>
              </a:rPr>
              <a:t>• Also shown: F-04 (wrong maths) -&gt; maths moved to code</a:t>
            </a:r>
          </a:p>
        </p:txBody>
      </p:sp>
    </p:spTree>
    <p:extLst>
      <p:ext uri="{BB962C8B-B14F-4D97-AF65-F5344CB8AC3E}">
        <p14:creationId xmlns:p14="http://schemas.microsoft.com/office/powerpoint/2010/main" val="3177036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F53B39-21B5-4A25-9AA3-F4BA2416A546}"/>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985AB27F-F426-49BF-9661-A5AA8166BE1F}"/>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A88C51A-0790-4239-913E-B43EE200E7E1}"/>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Safety controls and guardrails</a:t>
            </a:r>
          </a:p>
        </p:txBody>
      </p:sp>
      <p:sp>
        <p:nvSpPr>
          <p:cNvPr id="5" name="TextBox 4">
            <a:extLst xmlns:a="http://schemas.openxmlformats.org/drawingml/2006/main">
              <a:ext uri="{FF2B5EF4-FFF2-40B4-BE49-F238E27FC236}">
                <a16:creationId xmlns:a16="http://schemas.microsoft.com/office/drawing/2014/main" id="{079EF7CF-CE1F-4E27-AE40-F86581566E0E}"/>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SAFETY</a:t>
            </a:r>
          </a:p>
        </p:txBody>
      </p:sp>
      <p:graphicFrame>
        <p:nvGraphicFramePr>
          <p:cNvPr id="6" name="Table 5">
            <a:extLst xmlns:a="http://schemas.openxmlformats.org/drawingml/2006/main">
              <a:ext uri="{FF2B5EF4-FFF2-40B4-BE49-F238E27FC236}">
                <a16:creationId xmlns:a16="http://schemas.microsoft.com/office/drawing/2014/main" id="{C67A2CB7-3C30-4F84-936B-9944B3ABBA59}"/>
              </a:ext>
            </a:extLst>
          </p:cNvPr>
          <p:cNvGraphicFramePr/>
          <p:nvPr/>
        </p:nvGraphicFramePr>
        <p:xfrm>
          <a:off xmlns:a="http://schemas.openxmlformats.org/drawingml/2006/main" x="457200" y="1417320"/>
          <a:ext xmlns:a="http://schemas.openxmlformats.org/drawingml/2006/main" cx="11247120" cy="4352544"/>
        </p:xfrm>
        <a:graphic xmlns:a="http://schemas.openxmlformats.org/drawingml/2006/main">
          <a:graphicData uri="http://schemas.openxmlformats.org/drawingml/2006/table">
            <a:tbl>
              <a:tblPr firstRow="1" bandRow="1">
                <a:tableStyleId>{5C22544A-7EE6-4342-B048-85BDC9FD1C3A}</a:tableStyleId>
              </a:tblPr>
              <a:tblGrid>
                <a:gridCol w="2743200"/>
                <a:gridCol w="8503920"/>
              </a:tblGrid>
              <a:tr h="621792">
                <a:tc>
                  <a:txBody>
                    <a:bodyPr/>
                    <a:lstStyle/>
                    <a:p>
                      <a:r>
                        <a:rPr sz="1600" b="1">
                          <a:solidFill>
                            <a:srgbClr val="FFFFFF"/>
                          </a:solidFill>
                        </a:rPr>
                        <a:t>Brief requirement</a:t>
                      </a:r>
                    </a:p>
                  </a:txBody>
                  <a:tcPr marL="91440" marR="91440" marT="45720" marB="45720">
                    <a:solidFill>
                      <a:srgbClr val="1B2A5B"/>
                    </a:solidFill>
                  </a:tcPr>
                </a:tc>
                <a:tc>
                  <a:txBody>
                    <a:bodyPr/>
                    <a:lstStyle/>
                    <a:p>
                      <a:r>
                        <a:rPr sz="1600" b="1">
                          <a:solidFill>
                            <a:srgbClr val="FFFFFF"/>
                          </a:solidFill>
                        </a:rPr>
                        <a:t>How it is enforced (code)</a:t>
                      </a:r>
                    </a:p>
                  </a:txBody>
                  <a:tcPr marL="91440" marR="91440" marT="45720" marB="45720">
                    <a:solidFill>
                      <a:srgbClr val="1B2A5B"/>
                    </a:solidFill>
                  </a:tcPr>
                </a:tc>
              </a:tr>
              <a:tr h="621792">
                <a:tc>
                  <a:txBody>
                    <a:bodyPr/>
                    <a:lstStyle/>
                    <a:p>
                      <a:r>
                        <a:rPr sz="1600" b="0">
                          <a:solidFill>
                            <a:srgbClr val="1B2A5B"/>
                          </a:solidFill>
                        </a:rPr>
                        <a:t>Permissions</a:t>
                      </a:r>
                    </a:p>
                  </a:txBody>
                  <a:tcPr marL="91440" marR="91440" marT="45720" marB="45720">
                    <a:solidFill>
                      <a:srgbClr val="E8ECF5"/>
                    </a:solidFill>
                  </a:tcPr>
                </a:tc>
                <a:tc>
                  <a:txBody>
                    <a:bodyPr/>
                    <a:lstStyle/>
                    <a:p>
                      <a:r>
                        <a:rPr sz="1600" b="0">
                          <a:solidFill>
                            <a:srgbClr val="1B2A5B"/>
                          </a:solidFill>
                        </a:rPr>
                        <a:t>Tool allow-list; no approve / order / pay tool exists (F-07, F-19)</a:t>
                      </a:r>
                    </a:p>
                  </a:txBody>
                  <a:tcPr marL="91440" marR="91440" marT="45720" marB="45720">
                    <a:solidFill>
                      <a:srgbClr val="E8ECF5"/>
                    </a:solidFill>
                  </a:tcPr>
                </a:tc>
              </a:tr>
              <a:tr h="621792">
                <a:tc>
                  <a:txBody>
                    <a:bodyPr/>
                    <a:lstStyle/>
                    <a:p>
                      <a:r>
                        <a:rPr sz="1600" b="0">
                          <a:solidFill>
                            <a:srgbClr val="1B2A5B"/>
                          </a:solidFill>
                        </a:rPr>
                        <a:t>Validation</a:t>
                      </a:r>
                    </a:p>
                  </a:txBody>
                  <a:tcPr marL="91440" marR="91440" marT="45720" marB="45720">
                    <a:solidFill>
                      <a:srgbClr val="FFFFFF"/>
                    </a:solidFill>
                  </a:tcPr>
                </a:tc>
                <a:tc>
                  <a:txBody>
                    <a:bodyPr/>
                    <a:lstStyle/>
                    <a:p>
                      <a:r>
                        <a:rPr sz="1600" b="0">
                          <a:solidFill>
                            <a:srgbClr val="1B2A5B"/>
                          </a:solidFill>
                        </a:rPr>
                        <a:t>JSON Schema on every argument; input guardrail blocks injection; budget checks</a:t>
                      </a:r>
                    </a:p>
                  </a:txBody>
                  <a:tcPr marL="91440" marR="91440" marT="45720" marB="45720">
                    <a:solidFill>
                      <a:srgbClr val="FFFFFF"/>
                    </a:solidFill>
                  </a:tcPr>
                </a:tc>
              </a:tr>
              <a:tr h="621792">
                <a:tc>
                  <a:txBody>
                    <a:bodyPr/>
                    <a:lstStyle/>
                    <a:p>
                      <a:r>
                        <a:rPr sz="1600" b="0">
                          <a:solidFill>
                            <a:srgbClr val="1B2A5B"/>
                          </a:solidFill>
                        </a:rPr>
                        <a:t>Logs</a:t>
                      </a:r>
                    </a:p>
                  </a:txBody>
                  <a:tcPr marL="91440" marR="91440" marT="45720" marB="45720">
                    <a:solidFill>
                      <a:srgbClr val="E8ECF5"/>
                    </a:solidFill>
                  </a:tcPr>
                </a:tc>
                <a:tc>
                  <a:txBody>
                    <a:bodyPr/>
                    <a:lstStyle/>
                    <a:p>
                      <a:r>
                        <a:rPr sz="1600" b="0">
                          <a:solidFill>
                            <a:srgbClr val="1B2A5B"/>
                          </a:solidFill>
                        </a:rPr>
                        <a:t>Model, tool, decision and state-transition traces</a:t>
                      </a:r>
                    </a:p>
                  </a:txBody>
                  <a:tcPr marL="91440" marR="91440" marT="45720" marB="45720">
                    <a:solidFill>
                      <a:srgbClr val="E8ECF5"/>
                    </a:solidFill>
                  </a:tcPr>
                </a:tc>
              </a:tr>
              <a:tr h="621792">
                <a:tc>
                  <a:txBody>
                    <a:bodyPr/>
                    <a:lstStyle/>
                    <a:p>
                      <a:r>
                        <a:rPr sz="1600" b="0">
                          <a:solidFill>
                            <a:srgbClr val="1B2A5B"/>
                          </a:solidFill>
                        </a:rPr>
                        <a:t>Approval controls</a:t>
                      </a:r>
                    </a:p>
                  </a:txBody>
                  <a:tcPr marL="91440" marR="91440" marT="45720" marB="45720">
                    <a:solidFill>
                      <a:srgbClr val="FFFFFF"/>
                    </a:solidFill>
                  </a:tcPr>
                </a:tc>
                <a:tc>
                  <a:txBody>
                    <a:bodyPr/>
                    <a:lstStyle/>
                    <a:p>
                      <a:r>
                        <a:rPr sz="1600" b="0">
                          <a:solidFill>
                            <a:srgbClr val="1B2A5B"/>
                          </a:solidFill>
                        </a:rPr>
                        <a:t>Human-only gate, typed APPROVE / REJECT, reasons, audit; budget ceiling (F-12)</a:t>
                      </a:r>
                    </a:p>
                  </a:txBody>
                  <a:tcPr marL="91440" marR="91440" marT="45720" marB="45720">
                    <a:solidFill>
                      <a:srgbClr val="FFFFFF"/>
                    </a:solidFill>
                  </a:tcPr>
                </a:tc>
              </a:tr>
              <a:tr h="621792">
                <a:tc>
                  <a:txBody>
                    <a:bodyPr/>
                    <a:lstStyle/>
                    <a:p>
                      <a:r>
                        <a:rPr sz="1600" b="0">
                          <a:solidFill>
                            <a:srgbClr val="1B2A5B"/>
                          </a:solidFill>
                        </a:rPr>
                        <a:t>Tool limits</a:t>
                      </a:r>
                    </a:p>
                  </a:txBody>
                  <a:tcPr marL="91440" marR="91440" marT="45720" marB="45720">
                    <a:solidFill>
                      <a:srgbClr val="E8ECF5"/>
                    </a:solidFill>
                  </a:tcPr>
                </a:tc>
                <a:tc>
                  <a:txBody>
                    <a:bodyPr/>
                    <a:lstStyle/>
                    <a:p>
                      <a:r>
                        <a:rPr sz="1600" b="0">
                          <a:solidFill>
                            <a:srgbClr val="1B2A5B"/>
                          </a:solidFill>
                        </a:rPr>
                        <a:t>Max turns and tool calls, repeated-call guard, per-task tool list</a:t>
                      </a:r>
                    </a:p>
                  </a:txBody>
                  <a:tcPr marL="91440" marR="91440" marT="45720" marB="45720">
                    <a:solidFill>
                      <a:srgbClr val="E8ECF5"/>
                    </a:solidFill>
                  </a:tcPr>
                </a:tc>
              </a:tr>
              <a:tr h="621792">
                <a:tc>
                  <a:txBody>
                    <a:bodyPr/>
                    <a:lstStyle/>
                    <a:p>
                      <a:r>
                        <a:rPr sz="1600" b="0">
                          <a:solidFill>
                            <a:srgbClr val="1B2A5B"/>
                          </a:solidFill>
                        </a:rPr>
                        <a:t>Shop isolation</a:t>
                      </a:r>
                    </a:p>
                  </a:txBody>
                  <a:tcPr marL="91440" marR="91440" marT="45720" marB="45720">
                    <a:solidFill>
                      <a:srgbClr val="FFFFFF"/>
                    </a:solidFill>
                  </a:tcPr>
                </a:tc>
                <a:tc>
                  <a:txBody>
                    <a:bodyPr/>
                    <a:lstStyle/>
                    <a:p>
                      <a:r>
                        <a:rPr sz="1600" b="0">
                          <a:solidFill>
                            <a:srgbClr val="1B2A5B"/>
                          </a:solidFill>
                        </a:rPr>
                        <a:t>Shop/user injected by code; model-supplied shop rejected (F-25)</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4242381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2969521-B166-4A4E-A7EB-1D1345C0F476}"/>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D01B371-E19C-4E2F-B198-7741A9812256}"/>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28902045-8AE6-4618-B838-FD68799E89B1}"/>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Evaluation results</a:t>
            </a:r>
          </a:p>
        </p:txBody>
      </p:sp>
      <p:sp>
        <p:nvSpPr>
          <p:cNvPr id="5" name="TextBox 4">
            <a:extLst xmlns:a="http://schemas.openxmlformats.org/drawingml/2006/main">
              <a:ext uri="{FF2B5EF4-FFF2-40B4-BE49-F238E27FC236}">
                <a16:creationId xmlns:a16="http://schemas.microsoft.com/office/drawing/2014/main" id="{C1AE6621-AF67-4955-9464-BDC05F567365}"/>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WEEK 7</a:t>
            </a:r>
          </a:p>
        </p:txBody>
      </p:sp>
      <p:graphicFrame>
        <p:nvGraphicFramePr>
          <p:cNvPr id="6" name="Table 5">
            <a:extLst xmlns:a="http://schemas.openxmlformats.org/drawingml/2006/main">
              <a:ext uri="{FF2B5EF4-FFF2-40B4-BE49-F238E27FC236}">
                <a16:creationId xmlns:a16="http://schemas.microsoft.com/office/drawing/2014/main" id="{5AF400F7-DA73-44E2-9C32-8932CCC9744B}"/>
              </a:ext>
            </a:extLst>
          </p:cNvPr>
          <p:cNvGraphicFramePr/>
          <p:nvPr/>
        </p:nvGraphicFramePr>
        <p:xfrm>
          <a:off xmlns:a="http://schemas.openxmlformats.org/drawingml/2006/main" x="457200" y="1417320"/>
          <a:ext xmlns:a="http://schemas.openxmlformats.org/drawingml/2006/main" cx="11247120" cy="3840479"/>
        </p:xfrm>
        <a:graphic xmlns:a="http://schemas.openxmlformats.org/drawingml/2006/main">
          <a:graphicData uri="http://schemas.openxmlformats.org/drawingml/2006/table">
            <a:tbl>
              <a:tblPr firstRow="1" bandRow="1">
                <a:tableStyleId>{5C22544A-7EE6-4342-B048-85BDC9FD1C3A}</a:tableStyleId>
              </a:tblPr>
              <a:tblGrid>
                <a:gridCol w="7315200"/>
                <a:gridCol w="3931920"/>
              </a:tblGrid>
              <a:tr h="640079">
                <a:tc>
                  <a:txBody>
                    <a:bodyPr/>
                    <a:lstStyle/>
                    <a:p>
                      <a:r>
                        <a:rPr sz="1800" b="1">
                          <a:solidFill>
                            <a:srgbClr val="FFFFFF"/>
                          </a:solidFill>
                        </a:rPr>
                        <a:t>Measure</a:t>
                      </a:r>
                    </a:p>
                  </a:txBody>
                  <a:tcPr marL="91440" marR="91440" marT="45720" marB="45720">
                    <a:solidFill>
                      <a:srgbClr val="1B2A5B"/>
                    </a:solidFill>
                  </a:tcPr>
                </a:tc>
                <a:tc>
                  <a:txBody>
                    <a:bodyPr/>
                    <a:lstStyle/>
                    <a:p>
                      <a:r>
                        <a:rPr sz="1800" b="1">
                          <a:solidFill>
                            <a:srgbClr val="FFFFFF"/>
                          </a:solidFill>
                        </a:rPr>
                        <a:t>Result</a:t>
                      </a:r>
                    </a:p>
                  </a:txBody>
                  <a:tcPr marL="91440" marR="91440" marT="45720" marB="45720">
                    <a:solidFill>
                      <a:srgbClr val="1B2A5B"/>
                    </a:solidFill>
                  </a:tcPr>
                </a:tc>
              </a:tr>
              <a:tr h="640079">
                <a:tc>
                  <a:txBody>
                    <a:bodyPr/>
                    <a:lstStyle/>
                    <a:p>
                      <a:r>
                        <a:rPr sz="1800" b="0">
                          <a:solidFill>
                            <a:srgbClr val="1B2A5B"/>
                          </a:solidFill>
                        </a:rPr>
                        <a:t>Offline regression (9 suites, no API key)</a:t>
                      </a:r>
                    </a:p>
                  </a:txBody>
                  <a:tcPr marL="91440" marR="91440" marT="45720" marB="45720">
                    <a:solidFill>
                      <a:srgbClr val="E8ECF5"/>
                    </a:solidFill>
                  </a:tcPr>
                </a:tc>
                <a:tc>
                  <a:txBody>
                    <a:bodyPr/>
                    <a:lstStyle/>
                    <a:p>
                      <a:r>
                        <a:rPr sz="1800" b="0">
                          <a:solidFill>
                            <a:srgbClr val="1B2A5B"/>
                          </a:solidFill>
                        </a:rPr>
                        <a:t>119 / 119</a:t>
                      </a:r>
                    </a:p>
                  </a:txBody>
                  <a:tcPr marL="91440" marR="91440" marT="45720" marB="45720">
                    <a:solidFill>
                      <a:srgbClr val="E8ECF5"/>
                    </a:solidFill>
                  </a:tcPr>
                </a:tc>
              </a:tr>
              <a:tr h="640079">
                <a:tc>
                  <a:txBody>
                    <a:bodyPr/>
                    <a:lstStyle/>
                    <a:p>
                      <a:r>
                        <a:rPr sz="1800" b="0">
                          <a:solidFill>
                            <a:srgbClr val="1B2A5B"/>
                          </a:solidFill>
                        </a:rPr>
                        <a:t>Week 7 scenarios (6 categories)</a:t>
                      </a:r>
                    </a:p>
                  </a:txBody>
                  <a:tcPr marL="91440" marR="91440" marT="45720" marB="45720">
                    <a:solidFill>
                      <a:srgbClr val="FFFFFF"/>
                    </a:solidFill>
                  </a:tcPr>
                </a:tc>
                <a:tc>
                  <a:txBody>
                    <a:bodyPr/>
                    <a:lstStyle/>
                    <a:p>
                      <a:r>
                        <a:rPr sz="1800" b="0">
                          <a:solidFill>
                            <a:srgbClr val="1B2A5B"/>
                          </a:solidFill>
                        </a:rPr>
                        <a:t>31 / 31</a:t>
                      </a:r>
                    </a:p>
                  </a:txBody>
                  <a:tcPr marL="91440" marR="91440" marT="45720" marB="45720">
                    <a:solidFill>
                      <a:srgbClr val="FFFFFF"/>
                    </a:solidFill>
                  </a:tcPr>
                </a:tc>
              </a:tr>
              <a:tr h="640079">
                <a:tc>
                  <a:txBody>
                    <a:bodyPr/>
                    <a:lstStyle/>
                    <a:p>
                      <a:r>
                        <a:rPr sz="1800" b="0">
                          <a:solidFill>
                            <a:srgbClr val="1B2A5B"/>
                          </a:solidFill>
                        </a:rPr>
                        <a:t>RAG retrieval hit@3 / grounded answers</a:t>
                      </a:r>
                    </a:p>
                  </a:txBody>
                  <a:tcPr marL="91440" marR="91440" marT="45720" marB="45720">
                    <a:solidFill>
                      <a:srgbClr val="E8ECF5"/>
                    </a:solidFill>
                  </a:tcPr>
                </a:tc>
                <a:tc>
                  <a:txBody>
                    <a:bodyPr/>
                    <a:lstStyle/>
                    <a:p>
                      <a:r>
                        <a:rPr sz="1800" b="0">
                          <a:solidFill>
                            <a:srgbClr val="1B2A5B"/>
                          </a:solidFill>
                        </a:rPr>
                        <a:t>10 / 10  ·  15 / 15</a:t>
                      </a:r>
                    </a:p>
                  </a:txBody>
                  <a:tcPr marL="91440" marR="91440" marT="45720" marB="45720">
                    <a:solidFill>
                      <a:srgbClr val="E8ECF5"/>
                    </a:solidFill>
                  </a:tcPr>
                </a:tc>
              </a:tr>
              <a:tr h="640079">
                <a:tc>
                  <a:txBody>
                    <a:bodyPr/>
                    <a:lstStyle/>
                    <a:p>
                      <a:r>
                        <a:rPr sz="1800" b="0">
                          <a:solidFill>
                            <a:srgbClr val="1B2A5B"/>
                          </a:solidFill>
                        </a:rPr>
                        <a:t>Live agent / restock traces</a:t>
                      </a:r>
                    </a:p>
                  </a:txBody>
                  <a:tcPr marL="91440" marR="91440" marT="45720" marB="45720">
                    <a:solidFill>
                      <a:srgbClr val="FFFFFF"/>
                    </a:solidFill>
                  </a:tcPr>
                </a:tc>
                <a:tc>
                  <a:txBody>
                    <a:bodyPr/>
                    <a:lstStyle/>
                    <a:p>
                      <a:r>
                        <a:rPr sz="1800" b="0">
                          <a:solidFill>
                            <a:srgbClr val="1B2A5B"/>
                          </a:solidFill>
                        </a:rPr>
                        <a:t>6 / 6  ·  4 / 4</a:t>
                      </a:r>
                    </a:p>
                  </a:txBody>
                  <a:tcPr marL="91440" marR="91440" marT="45720" marB="45720">
                    <a:solidFill>
                      <a:srgbClr val="FFFFFF"/>
                    </a:solidFill>
                  </a:tcPr>
                </a:tc>
              </a:tr>
              <a:tr h="640084">
                <a:tc>
                  <a:txBody>
                    <a:bodyPr/>
                    <a:lstStyle/>
                    <a:p>
                      <a:r>
                        <a:rPr sz="1800" b="0">
                          <a:solidFill>
                            <a:srgbClr val="1B2A5B"/>
                          </a:solidFill>
                        </a:rPr>
                        <a:t>Documented failures (cause, fix, test)</a:t>
                      </a:r>
                    </a:p>
                  </a:txBody>
                  <a:tcPr marL="91440" marR="91440" marT="45720" marB="45720">
                    <a:solidFill>
                      <a:srgbClr val="E8ECF5"/>
                    </a:solidFill>
                  </a:tcPr>
                </a:tc>
                <a:tc>
                  <a:txBody>
                    <a:bodyPr/>
                    <a:lstStyle/>
                    <a:p>
                      <a:r>
                        <a:rPr sz="1800" b="0">
                          <a:solidFill>
                            <a:srgbClr val="1B2A5B"/>
                          </a:solidFill>
                        </a:rPr>
                        <a:t>26 (23 closed)</a:t>
                      </a:r>
                    </a:p>
                  </a:txBody>
                  <a:tcPr marL="91440" marR="91440" marT="45720" marB="45720">
                    <a:solidFill>
                      <a:srgbClr val="E8ECF5"/>
                    </a:solidFill>
                  </a:tcPr>
                </a:tc>
              </a:tr>
            </a:tbl>
          </a:graphicData>
        </a:graphic>
      </p:graphicFrame>
    </p:spTree>
    <p:extLst>
      <p:ext uri="{BB962C8B-B14F-4D97-AF65-F5344CB8AC3E}">
        <p14:creationId xmlns:p14="http://schemas.microsoft.com/office/powerpoint/2010/main" val="206828014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5F90232-454B-49B2-A26D-6E776AB3AB30}"/>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8ED9FE9-24AE-4E51-9399-AAE320E382A7}"/>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7EDF1EF-28FA-4405-ADC6-6679E5AD55BD}"/>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Limitations and future work</a:t>
            </a:r>
          </a:p>
        </p:txBody>
      </p:sp>
      <p:sp>
        <p:nvSpPr>
          <p:cNvPr id="5" name="TextBox 4">
            <a:extLst xmlns:a="http://schemas.openxmlformats.org/drawingml/2006/main">
              <a:ext uri="{FF2B5EF4-FFF2-40B4-BE49-F238E27FC236}">
                <a16:creationId xmlns:a16="http://schemas.microsoft.com/office/drawing/2014/main" id="{B348B58F-497C-410E-88E4-75E15ACC138B}"/>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HONESTY</a:t>
            </a:r>
          </a:p>
        </p:txBody>
      </p:sp>
      <p:sp>
        <p:nvSpPr>
          <p:cNvPr id="6" name="TextBox 5">
            <a:extLst xmlns:a="http://schemas.openxmlformats.org/drawingml/2006/main">
              <a:ext uri="{FF2B5EF4-FFF2-40B4-BE49-F238E27FC236}">
                <a16:creationId xmlns:a16="http://schemas.microsoft.com/office/drawing/2014/main" id="{E7D91202-8D5A-47D0-B552-B7620EBCEC99}"/>
              </a:ext>
            </a:extLst>
          </p:cNvPr>
          <p:cNvSpPr>
            <a:spLocks xmlns:a="http://schemas.openxmlformats.org/drawingml/2006/main" noGrp="1"/>
          </p:cNvSpPr>
          <p:nvPr/>
        </p:nvSpPr>
        <p:spPr>
          <a:xfrm xmlns:a="http://schemas.openxmlformats.org/drawingml/2006/main">
            <a:off x="548640" y="1371600"/>
            <a:ext cx="11064240" cy="5120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2100" b="0">
                <a:solidFill>
                  <a:srgbClr val="1B2A5B"/>
                </a:solidFill>
              </a:rPr>
              <a:t>• Keyword RAG cannot reason about number ranges (R-4)</a:t>
            </a:r>
          </a:p>
          <a:p xmlns:a="http://schemas.openxmlformats.org/drawingml/2006/main">
            <a:pPr>
              <a:spcAft>
                <a:spcPts val="600"/>
              </a:spcAft>
              <a:buNone/>
            </a:pPr>
            <a:r>
              <a:rPr sz="2100" b="0">
                <a:solidFill>
                  <a:srgbClr val="1B2A5B"/>
                </a:solidFill>
              </a:rPr>
              <a:t>• State split over two SQLite files; shops share the same CSV data</a:t>
            </a:r>
          </a:p>
          <a:p xmlns:a="http://schemas.openxmlformats.org/drawingml/2006/main">
            <a:pPr>
              <a:spcAft>
                <a:spcPts val="600"/>
              </a:spcAft>
              <a:buNone/>
            </a:pPr>
            <a:r>
              <a:rPr sz="2100" b="0">
                <a:solidFill>
                  <a:srgbClr val="1B2A5B"/>
                </a:solidFill>
              </a:rPr>
              <a:t>• No login (single trusted user, decision-001), no CI pipeline</a:t>
            </a:r>
          </a:p>
          <a:p xmlns:a="http://schemas.openxmlformats.org/drawingml/2006/main">
            <a:pPr>
              <a:spcAft>
                <a:spcPts val="600"/>
              </a:spcAft>
              <a:buNone/>
            </a:pPr>
            <a:r>
              <a:rPr sz="2100" b="0">
                <a:solidFill>
                  <a:srgbClr val="1B2A5B"/>
                </a:solidFill>
              </a:rPr>
              <a:t>• Free tier: 20 requests/day per model</a:t>
            </a:r>
          </a:p>
          <a:p xmlns:a="http://schemas.openxmlformats.org/drawingml/2006/main">
            <a:pPr>
              <a:spcAft>
                <a:spcPts val="600"/>
              </a:spcAft>
              <a:buNone/>
            </a:pPr>
            <a:r>
              <a:rPr sz="2100" b="0">
                <a:solidFill>
                  <a:srgbClr val="1B2A5B"/>
                </a:solidFill>
              </a:rPr>
              <a:t>• Next: approval_threshold tool, one database, finish + host the UI, CI after every merge</a:t>
            </a:r>
          </a:p>
        </p:txBody>
      </p:sp>
    </p:spTree>
    <p:extLst>
      <p:ext uri="{BB962C8B-B14F-4D97-AF65-F5344CB8AC3E}">
        <p14:creationId xmlns:p14="http://schemas.microsoft.com/office/powerpoint/2010/main" val="108253490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6BB8692-D246-4C85-9283-DB499CE0C203}"/>
              </a:ext>
            </a:extLst>
          </p:cNvPr>
          <p:cNvSpPr>
            <a:spLocks xmlns:a="http://schemas.openxmlformats.org/drawingml/2006/main" noGrp="1"/>
          </p:cNvSpPr>
          <p:nvPr/>
        </p:nvSpPr>
        <p:spPr>
          <a:xfrm xmlns:a="http://schemas.openxmlformats.org/drawingml/2006/main">
            <a:off x="0" y="0"/>
            <a:ext cx="12191695" cy="105156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D614E278-7264-4B39-B878-FC7C931DB198}"/>
              </a:ext>
            </a:extLst>
          </p:cNvPr>
          <p:cNvSpPr>
            <a:spLocks xmlns:a="http://schemas.openxmlformats.org/drawingml/2006/main" noGrp="1"/>
          </p:cNvSpPr>
          <p:nvPr/>
        </p:nvSpPr>
        <p:spPr>
          <a:xfrm xmlns:a="http://schemas.openxmlformats.org/drawingml/2006/main">
            <a:off x="0" y="1051560"/>
            <a:ext cx="12191695" cy="54864"/>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1CD327E1-6E7C-4377-8D35-9F4E732024CF}"/>
              </a:ext>
            </a:extLst>
          </p:cNvPr>
          <p:cNvSpPr>
            <a:spLocks xmlns:a="http://schemas.openxmlformats.org/drawingml/2006/main" noGrp="1"/>
          </p:cNvSpPr>
          <p:nvPr/>
        </p:nvSpPr>
        <p:spPr>
          <a:xfrm xmlns:a="http://schemas.openxmlformats.org/drawingml/2006/main">
            <a:off x="457200" y="164592"/>
            <a:ext cx="11247120" cy="8229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b="1">
                <a:solidFill>
                  <a:srgbClr val="FFFFFF"/>
                </a:solidFill>
              </a:rPr>
              <a:t>Team and contributions</a:t>
            </a:r>
          </a:p>
        </p:txBody>
      </p:sp>
      <p:sp>
        <p:nvSpPr>
          <p:cNvPr id="5" name="TextBox 4">
            <a:extLst xmlns:a="http://schemas.openxmlformats.org/drawingml/2006/main">
              <a:ext uri="{FF2B5EF4-FFF2-40B4-BE49-F238E27FC236}">
                <a16:creationId xmlns:a16="http://schemas.microsoft.com/office/drawing/2014/main" id="{E52A8C19-C6B3-4CA2-A1CD-5C9018144E4B}"/>
              </a:ext>
            </a:extLst>
          </p:cNvPr>
          <p:cNvSpPr>
            <a:spLocks xmlns:a="http://schemas.openxmlformats.org/drawingml/2006/main" noGrp="1"/>
          </p:cNvSpPr>
          <p:nvPr/>
        </p:nvSpPr>
        <p:spPr>
          <a:xfrm xmlns:a="http://schemas.openxmlformats.org/drawingml/2006/main">
            <a:off x="8503920" y="347472"/>
            <a:ext cx="3291840" cy="4572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1400" b="1">
                <a:solidFill>
                  <a:srgbClr val="F5A100"/>
                </a:solidFill>
              </a:rPr>
              <a:t>TEAM</a:t>
            </a:r>
          </a:p>
        </p:txBody>
      </p:sp>
      <p:graphicFrame>
        <p:nvGraphicFramePr>
          <p:cNvPr id="6" name="Table 5">
            <a:extLst xmlns:a="http://schemas.openxmlformats.org/drawingml/2006/main">
              <a:ext uri="{FF2B5EF4-FFF2-40B4-BE49-F238E27FC236}">
                <a16:creationId xmlns:a16="http://schemas.microsoft.com/office/drawing/2014/main" id="{DF198B42-8F0B-4F5E-B712-659494964409}"/>
              </a:ext>
            </a:extLst>
          </p:cNvPr>
          <p:cNvGraphicFramePr/>
          <p:nvPr/>
        </p:nvGraphicFramePr>
        <p:xfrm>
          <a:off xmlns:a="http://schemas.openxmlformats.org/drawingml/2006/main" x="457200" y="1417320"/>
          <a:ext xmlns:a="http://schemas.openxmlformats.org/drawingml/2006/main" cx="6766560" cy="3291839"/>
        </p:xfrm>
        <a:graphic xmlns:a="http://schemas.openxmlformats.org/drawingml/2006/main">
          <a:graphicData uri="http://schemas.openxmlformats.org/drawingml/2006/table">
            <a:tbl>
              <a:tblPr firstRow="1" bandRow="1">
                <a:tableStyleId>{5C22544A-7EE6-4342-B048-85BDC9FD1C3A}</a:tableStyleId>
              </a:tblPr>
              <a:tblGrid>
                <a:gridCol w="2194560"/>
                <a:gridCol w="4572000"/>
              </a:tblGrid>
              <a:tr h="548639">
                <a:tc>
                  <a:txBody>
                    <a:bodyPr/>
                    <a:lstStyle/>
                    <a:p>
                      <a:r>
                        <a:rPr sz="1300" b="1">
                          <a:solidFill>
                            <a:srgbClr val="FFFFFF"/>
                          </a:solidFill>
                        </a:rPr>
                        <a:t>Member</a:t>
                      </a:r>
                    </a:p>
                  </a:txBody>
                  <a:tcPr marL="91440" marR="91440" marT="45720" marB="45720">
                    <a:solidFill>
                      <a:srgbClr val="1B2A5B"/>
                    </a:solidFill>
                  </a:tcPr>
                </a:tc>
                <a:tc>
                  <a:txBody>
                    <a:bodyPr/>
                    <a:lstStyle/>
                    <a:p>
                      <a:r>
                        <a:rPr sz="1300" b="1">
                          <a:solidFill>
                            <a:srgbClr val="FFFFFF"/>
                          </a:solidFill>
                        </a:rPr>
                        <a:t>Contribution</a:t>
                      </a:r>
                    </a:p>
                  </a:txBody>
                  <a:tcPr marL="91440" marR="91440" marT="45720" marB="45720">
                    <a:solidFill>
                      <a:srgbClr val="1B2A5B"/>
                    </a:solidFill>
                  </a:tcPr>
                </a:tc>
              </a:tr>
              <a:tr h="548639">
                <a:tc>
                  <a:txBody>
                    <a:bodyPr/>
                    <a:lstStyle/>
                    <a:p>
                      <a:r>
                        <a:rPr sz="1300" b="0">
                          <a:solidFill>
                            <a:srgbClr val="1B2A5B"/>
                          </a:solidFill>
                        </a:rPr>
                        <a:t>Mwesigwa Arnold Mugahi</a:t>
                      </a:r>
                    </a:p>
                  </a:txBody>
                  <a:tcPr marL="91440" marR="91440" marT="45720" marB="45720">
                    <a:solidFill>
                      <a:srgbClr val="E8ECF5"/>
                    </a:solidFill>
                  </a:tcPr>
                </a:tc>
                <a:tc>
                  <a:txBody>
                    <a:bodyPr/>
                    <a:lstStyle/>
                    <a:p>
                      <a:r>
                        <a:rPr sz="1300" b="0">
                          <a:solidFill>
                            <a:srgbClr val="1B2A5B"/>
                          </a:solidFill>
                        </a:rPr>
                        <a:t>Model integration, tools, agents, RAG, guardrails and evaluation</a:t>
                      </a:r>
                    </a:p>
                  </a:txBody>
                  <a:tcPr marL="91440" marR="91440" marT="45720" marB="45720">
                    <a:solidFill>
                      <a:srgbClr val="E8ECF5"/>
                    </a:solidFill>
                  </a:tcPr>
                </a:tc>
              </a:tr>
              <a:tr h="548639">
                <a:tc>
                  <a:txBody>
                    <a:bodyPr/>
                    <a:lstStyle/>
                    <a:p>
                      <a:r>
                        <a:rPr sz="1300" b="0">
                          <a:solidFill>
                            <a:srgbClr val="1B2A5B"/>
                          </a:solidFill>
                        </a:rPr>
                        <a:t>Boonabaana Bronia</a:t>
                      </a:r>
                    </a:p>
                  </a:txBody>
                  <a:tcPr marL="91440" marR="91440" marT="45720" marB="45720">
                    <a:solidFill>
                      <a:srgbClr val="FFFFFF"/>
                    </a:solidFill>
                  </a:tcPr>
                </a:tc>
                <a:tc>
                  <a:txBody>
                    <a:bodyPr/>
                    <a:lstStyle/>
                    <a:p>
                      <a:r>
                        <a:rPr sz="1300" b="0">
                          <a:solidFill>
                            <a:srgbClr val="1B2A5B"/>
                          </a:solidFill>
                        </a:rPr>
                        <a:t>Scoped SQLite storage, tenant context, F-26 fix, Streamlit UI and report/deck</a:t>
                      </a:r>
                    </a:p>
                  </a:txBody>
                  <a:tcPr marL="91440" marR="91440" marT="45720" marB="45720">
                    <a:solidFill>
                      <a:srgbClr val="FFFFFF"/>
                    </a:solidFill>
                  </a:tcPr>
                </a:tc>
              </a:tr>
              <a:tr h="548639">
                <a:tc>
                  <a:txBody>
                    <a:bodyPr/>
                    <a:lstStyle/>
                    <a:p>
                      <a:r>
                        <a:rPr sz="1300" b="0">
                          <a:solidFill>
                            <a:srgbClr val="1B2A5B"/>
                          </a:solidFill>
                        </a:rPr>
                        <a:t>Naisanga Patricia</a:t>
                      </a:r>
                    </a:p>
                  </a:txBody>
                  <a:tcPr marL="91440" marR="91440" marT="45720" marB="45720">
                    <a:solidFill>
                      <a:srgbClr val="E8ECF5"/>
                    </a:solidFill>
                  </a:tcPr>
                </a:tc>
                <a:tc>
                  <a:txBody>
                    <a:bodyPr/>
                    <a:lstStyle/>
                    <a:p>
                      <a:r>
                        <a:rPr sz="1300" b="0">
                          <a:solidFill>
                            <a:srgbClr val="1B2A5B"/>
                          </a:solidFill>
                        </a:rPr>
                        <a:t>Contribution details not documented in supplied evidence</a:t>
                      </a:r>
                    </a:p>
                  </a:txBody>
                  <a:tcPr marL="91440" marR="91440" marT="45720" marB="45720">
                    <a:solidFill>
                      <a:srgbClr val="E8ECF5"/>
                    </a:solidFill>
                  </a:tcPr>
                </a:tc>
              </a:tr>
              <a:tr h="548639">
                <a:tc>
                  <a:txBody>
                    <a:bodyPr/>
                    <a:lstStyle/>
                    <a:p>
                      <a:r>
                        <a:rPr sz="1300" b="0">
                          <a:solidFill>
                            <a:srgbClr val="1B2A5B"/>
                          </a:solidFill>
                        </a:rPr>
                        <a:t>Nakyambadde Mariam</a:t>
                      </a:r>
                    </a:p>
                  </a:txBody>
                  <a:tcPr marL="91440" marR="91440" marT="45720" marB="45720">
                    <a:solidFill>
                      <a:srgbClr val="FFFFFF"/>
                    </a:solidFill>
                  </a:tcPr>
                </a:tc>
                <a:tc>
                  <a:txBody>
                    <a:bodyPr/>
                    <a:lstStyle/>
                    <a:p>
                      <a:r>
                        <a:rPr sz="1300" b="0">
                          <a:solidFill>
                            <a:srgbClr val="1B2A5B"/>
                          </a:solidFill>
                        </a:rPr>
                        <a:t>Contribution details not documented in supplied evidence</a:t>
                      </a:r>
                    </a:p>
                  </a:txBody>
                  <a:tcPr marL="91440" marR="91440" marT="45720" marB="45720">
                    <a:solidFill>
                      <a:srgbClr val="FFFFFF"/>
                    </a:solidFill>
                  </a:tcPr>
                </a:tc>
              </a:tr>
              <a:tr h="548644">
                <a:tc>
                  <a:txBody>
                    <a:bodyPr/>
                    <a:lstStyle/>
                    <a:p>
                      <a:r>
                        <a:rPr sz="1300" b="0">
                          <a:solidFill>
                            <a:srgbClr val="1B2A5B"/>
                          </a:solidFill>
                        </a:rPr>
                        <a:t>Tulinawe Ismail</a:t>
                      </a:r>
                    </a:p>
                  </a:txBody>
                  <a:tcPr marL="91440" marR="91440" marT="45720" marB="45720">
                    <a:solidFill>
                      <a:srgbClr val="E8ECF5"/>
                    </a:solidFill>
                  </a:tcPr>
                </a:tc>
                <a:tc>
                  <a:txBody>
                    <a:bodyPr/>
                    <a:lstStyle/>
                    <a:p>
                      <a:r>
                        <a:rPr sz="1300" b="0">
                          <a:solidFill>
                            <a:srgbClr val="1B2A5B"/>
                          </a:solidFill>
                        </a:rPr>
                        <a:t>Contribution details not documented in supplied evidence</a:t>
                      </a:r>
                    </a:p>
                  </a:txBody>
                  <a:tcPr marL="91440" marR="91440" marT="45720" marB="45720">
                    <a:solidFill>
                      <a:srgbClr val="E8ECF5"/>
                    </a:solidFill>
                  </a:tcPr>
                </a:tc>
              </a:tr>
            </a:tbl>
          </a:graphicData>
        </a:graphic>
      </p:graphicFrame>
      <p:sp>
        <p:nvSpPr>
          <p:cNvPr id="7" name="">
            <a:extLst xmlns:a="http://schemas.openxmlformats.org/drawingml/2006/main">
              <a:ext uri="{FF2B5EF4-FFF2-40B4-BE49-F238E27FC236}">
                <a16:creationId xmlns:a16="http://schemas.microsoft.com/office/drawing/2014/main" id="{12F6956F-9127-4C5C-95B8-8C0F7A4B7DCC}"/>
              </a:ext>
            </a:extLst>
          </p:cNvPr>
          <p:cNvSpPr>
            <a:spLocks xmlns:a="http://schemas.openxmlformats.org/drawingml/2006/main" noGrp="1"/>
          </p:cNvSpPr>
          <p:nvPr/>
        </p:nvSpPr>
        <p:spPr>
          <a:xfrm xmlns:a="http://schemas.openxmlformats.org/drawingml/2006/main">
            <a:off x="7498079" y="1371600"/>
            <a:ext cx="4297680" cy="5120640"/>
          </a:xfrm>
          <a:prstGeom xmlns:a="http://schemas.openxmlformats.org/drawingml/2006/main" prst="rect">
            <a:avLst/>
          </a:prstGeom>
          <a:ln xmlns:a="http://schemas.openxmlformats.org/drawingml/2006/main" w="0">
            <a:solidFill>
              <a:srgbClr val="FFFFFF"/>
            </a:solidFill>
          </a:ln>
        </p:spPr>
        <p:txBody>
          <a:bodyPr xmlns:a="http://schemas.openxmlformats.org/drawingml/2006/main"/>
          <a:lstStyle xmlns:a="http://schemas.openxmlformats.org/drawingml/2006/main"/>
          <a:p xmlns:a="http://schemas.openxmlformats.org/drawingml/2006/main">
            <a:r>
              <a:t>Available project-management record</a:t>
            </a:r>
          </a:p>
          <a:p xmlns:a="http://schemas.openxmlformats.org/drawingml/2006/main">
            <a:r>
              <a:t/>
            </a:r>
          </a:p>
          <a:p xmlns:a="http://schemas.openxmlformats.org/drawingml/2006/main">
            <a:r>
              <a:t>docs/team/task-board.csv</a:t>
            </a:r>
          </a:p>
          <a:p xmlns:a="http://schemas.openxmlformats.org/drawingml/2006/main">
            <a:r>
              <a:t/>
            </a:r>
          </a:p>
          <a:p xmlns:a="http://schemas.openxmlformats.org/drawingml/2006/main">
            <a:r>
              <a:t>No ClickUp screenshot was supplied. Three members’ contribution details were not recorded in the supplied evidence.</a:t>
            </a:r>
          </a:p>
        </p:txBody>
      </p:sp>
    </p:spTree>
    <p:extLst>
      <p:ext uri="{BB962C8B-B14F-4D97-AF65-F5344CB8AC3E}">
        <p14:creationId xmlns:p14="http://schemas.microsoft.com/office/powerpoint/2010/main" val="110780380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2265AD0-2AC4-43B0-A267-C7655837EDA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B2A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171B37C-6DD5-4287-A9BA-0D9C63B3B592}"/>
              </a:ext>
            </a:extLst>
          </p:cNvPr>
          <p:cNvSpPr>
            <a:spLocks xmlns:a="http://schemas.openxmlformats.org/drawingml/2006/main" noGrp="1"/>
          </p:cNvSpPr>
          <p:nvPr/>
        </p:nvSpPr>
        <p:spPr>
          <a:xfrm xmlns:a="http://schemas.openxmlformats.org/drawingml/2006/main">
            <a:off x="731520" y="1828800"/>
            <a:ext cx="1463040" cy="73152"/>
          </a:xfrm>
          <a:prstGeom xmlns:a="http://schemas.openxmlformats.org/drawingml/2006/main" prst="rect">
            <a:avLst/>
          </a:prstGeom>
          <a:solidFill xmlns:a="http://schemas.openxmlformats.org/drawingml/2006/main">
            <a:srgbClr val="F5A1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C156005-F11F-457C-BFFF-8528EA2075C9}"/>
              </a:ext>
            </a:extLst>
          </p:cNvPr>
          <p:cNvSpPr>
            <a:spLocks xmlns:a="http://schemas.openxmlformats.org/drawingml/2006/main" noGrp="1"/>
          </p:cNvSpPr>
          <p:nvPr/>
        </p:nvSpPr>
        <p:spPr>
          <a:xfrm xmlns:a="http://schemas.openxmlformats.org/drawingml/2006/main">
            <a:off x="731520" y="2011680"/>
            <a:ext cx="10698480" cy="42062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4400" b="1">
                <a:solidFill>
                  <a:srgbClr val="FFFFFF"/>
                </a:solidFill>
              </a:rPr>
              <a:t>Thank you</a:t>
            </a:r>
          </a:p>
          <a:p xmlns:a="http://schemas.openxmlformats.org/drawingml/2006/main">
            <a:pPr>
              <a:spcAft>
                <a:spcPts val="1000"/>
              </a:spcAft>
              <a:buNone/>
            </a:pPr>
            <a:r>
              <a:rPr sz="2600" b="1">
                <a:solidFill>
                  <a:srgbClr val="F5A100"/>
                </a:solidFill>
              </a:rPr>
              <a:t>AI supports, never decides.</a:t>
            </a:r>
          </a:p>
          <a:p xmlns:a="http://schemas.openxmlformats.org/drawingml/2006/main">
            <a:pPr>
              <a:spcAft>
                <a:spcPts val="1000"/>
              </a:spcAft>
              <a:buNone/>
            </a:pPr>
            <a:r>
              <a:rPr sz="2800" b="0">
                <a:solidFill>
                  <a:srgbClr val="FFFFFF"/>
                </a:solidFill>
              </a:rPr>
              <a:t>Questions?</a:t>
            </a:r>
          </a:p>
          <a:p xmlns:a="http://schemas.openxmlformats.org/drawingml/2006/main">
            <a:pPr>
              <a:spcAft>
                <a:spcPts val="1000"/>
              </a:spcAft>
              <a:buNone/>
            </a:pPr>
            <a:r>
              <a:rPr sz="1800" b="0">
                <a:solidFill>
                  <a:srgbClr val="FFFFFF"/>
                </a:solidFill>
              </a:rPr>
              <a:t>github.com/AJmight/Capstone_project-</a:t>
            </a:r>
          </a:p>
        </p:txBody>
      </p:sp>
    </p:spTree>
    <p:extLst>
      <p:ext uri="{BB962C8B-B14F-4D97-AF65-F5344CB8AC3E}">
        <p14:creationId xmlns:p14="http://schemas.microsoft.com/office/powerpoint/2010/main" val="6029286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2026-10-23T22:58:46.2460000Z</dcterms:created>
  <dcterms:modified xsi:type="dcterms:W3CDTF">2026-10-23T22:58:46.2460000Z</dcterms:modified>
</coreProperties>
</file>